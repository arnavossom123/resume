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6" r:id="rId5"/>
    <p:sldId id="308" r:id="rId6"/>
    <p:sldId id="312" r:id="rId7"/>
    <p:sldId id="313" r:id="rId8"/>
    <p:sldId id="314" r:id="rId9"/>
    <p:sldId id="315" r:id="rId10"/>
    <p:sldId id="316" r:id="rId11"/>
    <p:sldId id="310" r:id="rId12"/>
    <p:sldId id="317" r:id="rId13"/>
    <p:sldId id="311" r:id="rId14"/>
    <p:sldId id="31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9/8/2026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9/8/2026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9/8/2026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9/8/2026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9/8/2026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9/8/2026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9/8/2026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9/8/2026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9/8/2026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9/8/2026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30000" y="639097"/>
            <a:ext cx="4813072" cy="3494791"/>
          </a:xfrm>
        </p:spPr>
        <p:txBody>
          <a:bodyPr>
            <a:normAutofit fontScale="90000"/>
          </a:bodyPr>
          <a:lstStyle/>
          <a:p>
            <a:r>
              <a:rPr lang="en-US" dirty="0"/>
              <a:t>Pseudo-Arc Length Continuation</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a:bodyPr>
          <a:lstStyle/>
          <a:p>
            <a:r>
              <a:rPr lang="en-US" dirty="0"/>
              <a:t>Arnav Gogate</a:t>
            </a:r>
          </a:p>
          <a:p>
            <a:r>
              <a:rPr lang="en-US" dirty="0"/>
              <a:t>23110043</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252984" y="231988"/>
            <a:ext cx="11686032" cy="1450757"/>
          </a:xfrm>
        </p:spPr>
        <p:txBody>
          <a:bodyPr>
            <a:normAutofit/>
          </a:bodyPr>
          <a:lstStyle/>
          <a:p>
            <a:r>
              <a:rPr lang="en-US" sz="4000" dirty="0"/>
              <a:t>Problem Statement: Solving Kirchhoff Rod Theory Problems using Keller’s pseudo arc-length continuation </a:t>
            </a:r>
          </a:p>
        </p:txBody>
      </p:sp>
      <p:sp>
        <p:nvSpPr>
          <p:cNvPr id="5" name="Content Placeholder 4">
            <a:extLst>
              <a:ext uri="{FF2B5EF4-FFF2-40B4-BE49-F238E27FC236}">
                <a16:creationId xmlns:a16="http://schemas.microsoft.com/office/drawing/2014/main" id="{059CFF4B-2440-42A4-92AF-59AEA353499C}"/>
              </a:ext>
            </a:extLst>
          </p:cNvPr>
          <p:cNvSpPr>
            <a:spLocks noGrp="1"/>
          </p:cNvSpPr>
          <p:nvPr>
            <p:ph idx="1"/>
          </p:nvPr>
        </p:nvSpPr>
        <p:spPr>
          <a:xfrm>
            <a:off x="1197864" y="2155442"/>
            <a:ext cx="2587752" cy="799591"/>
          </a:xfrm>
          <a:solidFill>
            <a:schemeClr val="accent1">
              <a:lumMod val="40000"/>
              <a:lumOff val="60000"/>
            </a:schemeClr>
          </a:solidFill>
        </p:spPr>
        <p:txBody>
          <a:bodyPr>
            <a:normAutofit/>
          </a:bodyPr>
          <a:lstStyle/>
          <a:p>
            <a:r>
              <a:rPr lang="en-IN" sz="1800" dirty="0"/>
              <a:t>Formulating the Boundary Value Problem</a:t>
            </a:r>
          </a:p>
        </p:txBody>
      </p:sp>
      <p:sp>
        <p:nvSpPr>
          <p:cNvPr id="12" name="Content Placeholder 4">
            <a:extLst>
              <a:ext uri="{FF2B5EF4-FFF2-40B4-BE49-F238E27FC236}">
                <a16:creationId xmlns:a16="http://schemas.microsoft.com/office/drawing/2014/main" id="{B0347BA1-FAB0-B20C-75B8-6338B8ECEE65}"/>
              </a:ext>
            </a:extLst>
          </p:cNvPr>
          <p:cNvSpPr txBox="1">
            <a:spLocks/>
          </p:cNvSpPr>
          <p:nvPr/>
        </p:nvSpPr>
        <p:spPr>
          <a:xfrm>
            <a:off x="4541520" y="2155444"/>
            <a:ext cx="2587752" cy="799591"/>
          </a:xfrm>
          <a:prstGeom prst="rect">
            <a:avLst/>
          </a:prstGeom>
          <a:solidFill>
            <a:schemeClr val="accent1">
              <a:lumMod val="40000"/>
              <a:lumOff val="60000"/>
            </a:schemeClr>
          </a:solidFill>
        </p:spPr>
        <p:txBody>
          <a:bodyPr vert="horz" lIns="0" tIns="45720" rIns="0" bIns="45720" rtlCol="0">
            <a:normAutofit fontScale="92500" lnSpcReduction="20000"/>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1800" dirty="0"/>
              <a:t>Applying the Finite Difference Method on the ODEs</a:t>
            </a:r>
          </a:p>
        </p:txBody>
      </p:sp>
      <p:sp>
        <p:nvSpPr>
          <p:cNvPr id="13" name="Content Placeholder 4">
            <a:extLst>
              <a:ext uri="{FF2B5EF4-FFF2-40B4-BE49-F238E27FC236}">
                <a16:creationId xmlns:a16="http://schemas.microsoft.com/office/drawing/2014/main" id="{8FFAC745-6C08-6E25-1785-3B92C7B0787D}"/>
              </a:ext>
            </a:extLst>
          </p:cNvPr>
          <p:cNvSpPr txBox="1">
            <a:spLocks/>
          </p:cNvSpPr>
          <p:nvPr/>
        </p:nvSpPr>
        <p:spPr>
          <a:xfrm>
            <a:off x="7885176" y="2155443"/>
            <a:ext cx="2587752" cy="799591"/>
          </a:xfrm>
          <a:prstGeom prst="rect">
            <a:avLst/>
          </a:prstGeom>
          <a:solidFill>
            <a:schemeClr val="accent1">
              <a:lumMod val="40000"/>
              <a:lumOff val="60000"/>
            </a:schemeClr>
          </a:solidFill>
        </p:spPr>
        <p:txBody>
          <a:bodyPr vert="horz" lIns="0" tIns="45720" rIns="0" bIns="45720" rtlCol="0">
            <a:norm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1800" dirty="0"/>
              <a:t>Getting the algebraic equations from ODEs</a:t>
            </a:r>
          </a:p>
        </p:txBody>
      </p:sp>
      <p:sp>
        <p:nvSpPr>
          <p:cNvPr id="14" name="Content Placeholder 4">
            <a:extLst>
              <a:ext uri="{FF2B5EF4-FFF2-40B4-BE49-F238E27FC236}">
                <a16:creationId xmlns:a16="http://schemas.microsoft.com/office/drawing/2014/main" id="{B8C60D18-F3DE-C41D-D18F-7E2D811DD669}"/>
              </a:ext>
            </a:extLst>
          </p:cNvPr>
          <p:cNvSpPr txBox="1">
            <a:spLocks/>
          </p:cNvSpPr>
          <p:nvPr/>
        </p:nvSpPr>
        <p:spPr>
          <a:xfrm>
            <a:off x="7885176" y="3503171"/>
            <a:ext cx="2587752" cy="799591"/>
          </a:xfrm>
          <a:prstGeom prst="rect">
            <a:avLst/>
          </a:prstGeom>
          <a:solidFill>
            <a:schemeClr val="accent1">
              <a:lumMod val="40000"/>
              <a:lumOff val="60000"/>
            </a:schemeClr>
          </a:solidFill>
        </p:spPr>
        <p:txBody>
          <a:bodyPr vert="horz" lIns="0" tIns="45720" rIns="0" bIns="45720" rtlCol="0">
            <a:norm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1800" dirty="0"/>
              <a:t>Using Boundary Conditions to Formulate equations</a:t>
            </a:r>
          </a:p>
        </p:txBody>
      </p:sp>
      <p:sp>
        <p:nvSpPr>
          <p:cNvPr id="15" name="Content Placeholder 4">
            <a:extLst>
              <a:ext uri="{FF2B5EF4-FFF2-40B4-BE49-F238E27FC236}">
                <a16:creationId xmlns:a16="http://schemas.microsoft.com/office/drawing/2014/main" id="{A2EAF5B9-37A2-0B08-CB25-8DAC4D4FA286}"/>
              </a:ext>
            </a:extLst>
          </p:cNvPr>
          <p:cNvSpPr txBox="1">
            <a:spLocks/>
          </p:cNvSpPr>
          <p:nvPr/>
        </p:nvSpPr>
        <p:spPr>
          <a:xfrm>
            <a:off x="4541520" y="3500630"/>
            <a:ext cx="2587752" cy="799591"/>
          </a:xfrm>
          <a:prstGeom prst="rect">
            <a:avLst/>
          </a:prstGeom>
          <a:solidFill>
            <a:schemeClr val="accent1">
              <a:lumMod val="40000"/>
              <a:lumOff val="60000"/>
            </a:schemeClr>
          </a:solidFill>
        </p:spPr>
        <p:txBody>
          <a:bodyPr vert="horz" lIns="0" tIns="45720" rIns="0" bIns="45720" rtlCol="0">
            <a:norm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1800" dirty="0"/>
              <a:t>Import the equations into continuation file</a:t>
            </a:r>
          </a:p>
        </p:txBody>
      </p:sp>
      <p:sp>
        <p:nvSpPr>
          <p:cNvPr id="16" name="Content Placeholder 4">
            <a:extLst>
              <a:ext uri="{FF2B5EF4-FFF2-40B4-BE49-F238E27FC236}">
                <a16:creationId xmlns:a16="http://schemas.microsoft.com/office/drawing/2014/main" id="{10AF145A-3E60-5672-8E09-7A593EDDED08}"/>
              </a:ext>
            </a:extLst>
          </p:cNvPr>
          <p:cNvSpPr txBox="1">
            <a:spLocks/>
          </p:cNvSpPr>
          <p:nvPr/>
        </p:nvSpPr>
        <p:spPr>
          <a:xfrm>
            <a:off x="1197864" y="3507233"/>
            <a:ext cx="2587752" cy="799591"/>
          </a:xfrm>
          <a:prstGeom prst="rect">
            <a:avLst/>
          </a:prstGeom>
          <a:solidFill>
            <a:schemeClr val="accent1">
              <a:lumMod val="40000"/>
              <a:lumOff val="60000"/>
            </a:schemeClr>
          </a:solidFill>
        </p:spPr>
        <p:txBody>
          <a:bodyPr vert="horz" lIns="0" tIns="45720" rIns="0" bIns="45720" rtlCol="0">
            <a:normAutofit fontScale="92500" lnSpcReduction="20000"/>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1800" dirty="0"/>
              <a:t>Apply Keller’s Pseudo Arc Length Continuation algorithm</a:t>
            </a:r>
          </a:p>
        </p:txBody>
      </p:sp>
      <p:sp>
        <p:nvSpPr>
          <p:cNvPr id="17" name="Content Placeholder 4">
            <a:extLst>
              <a:ext uri="{FF2B5EF4-FFF2-40B4-BE49-F238E27FC236}">
                <a16:creationId xmlns:a16="http://schemas.microsoft.com/office/drawing/2014/main" id="{E194F326-3ADA-45FF-B465-91ABB555CCEC}"/>
              </a:ext>
            </a:extLst>
          </p:cNvPr>
          <p:cNvSpPr txBox="1">
            <a:spLocks/>
          </p:cNvSpPr>
          <p:nvPr/>
        </p:nvSpPr>
        <p:spPr>
          <a:xfrm>
            <a:off x="1197864" y="4834129"/>
            <a:ext cx="2587752" cy="799591"/>
          </a:xfrm>
          <a:prstGeom prst="rect">
            <a:avLst/>
          </a:prstGeom>
          <a:solidFill>
            <a:schemeClr val="accent1">
              <a:lumMod val="40000"/>
              <a:lumOff val="60000"/>
            </a:schemeClr>
          </a:solidFill>
        </p:spPr>
        <p:txBody>
          <a:bodyPr vert="horz" lIns="0" tIns="45720" rIns="0" bIns="45720" rtlCol="0">
            <a:norm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1800" dirty="0"/>
              <a:t>Visualise the results.</a:t>
            </a:r>
            <a:br>
              <a:rPr lang="en-IN" sz="1800" dirty="0"/>
            </a:br>
            <a:r>
              <a:rPr lang="en-IN" sz="1800" dirty="0"/>
              <a:t>(</a:t>
            </a:r>
            <a:r>
              <a:rPr lang="en-IN" sz="1800" dirty="0" err="1"/>
              <a:t>x,y</a:t>
            </a:r>
            <a:r>
              <a:rPr lang="en-IN" sz="1800" dirty="0"/>
              <a:t>) in our case</a:t>
            </a:r>
          </a:p>
        </p:txBody>
      </p:sp>
      <p:cxnSp>
        <p:nvCxnSpPr>
          <p:cNvPr id="19" name="Straight Arrow Connector 18">
            <a:extLst>
              <a:ext uri="{FF2B5EF4-FFF2-40B4-BE49-F238E27FC236}">
                <a16:creationId xmlns:a16="http://schemas.microsoft.com/office/drawing/2014/main" id="{FFFF6BF2-F63B-F90C-8469-6CAC61DAE1C8}"/>
              </a:ext>
            </a:extLst>
          </p:cNvPr>
          <p:cNvCxnSpPr>
            <a:stCxn id="5" idx="3"/>
            <a:endCxn id="12" idx="1"/>
          </p:cNvCxnSpPr>
          <p:nvPr/>
        </p:nvCxnSpPr>
        <p:spPr>
          <a:xfrm>
            <a:off x="3785616" y="2555238"/>
            <a:ext cx="75590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1AA6D2E-E9F3-9ED6-61E2-6B1ED9424363}"/>
              </a:ext>
            </a:extLst>
          </p:cNvPr>
          <p:cNvCxnSpPr>
            <a:stCxn id="12" idx="3"/>
            <a:endCxn id="13" idx="1"/>
          </p:cNvCxnSpPr>
          <p:nvPr/>
        </p:nvCxnSpPr>
        <p:spPr>
          <a:xfrm flipV="1">
            <a:off x="7129272" y="2555239"/>
            <a:ext cx="75590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2C9428E-E9B3-CF9F-BE24-B86D83BEBBFB}"/>
              </a:ext>
            </a:extLst>
          </p:cNvPr>
          <p:cNvCxnSpPr>
            <a:stCxn id="13" idx="2"/>
            <a:endCxn id="14" idx="0"/>
          </p:cNvCxnSpPr>
          <p:nvPr/>
        </p:nvCxnSpPr>
        <p:spPr>
          <a:xfrm>
            <a:off x="9179052" y="2955034"/>
            <a:ext cx="0" cy="548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D2509E6-B0A1-2A61-6F77-D63A6CCB485E}"/>
              </a:ext>
            </a:extLst>
          </p:cNvPr>
          <p:cNvCxnSpPr>
            <a:stCxn id="14" idx="1"/>
            <a:endCxn id="15" idx="3"/>
          </p:cNvCxnSpPr>
          <p:nvPr/>
        </p:nvCxnSpPr>
        <p:spPr>
          <a:xfrm flipH="1" flipV="1">
            <a:off x="7129272" y="3900426"/>
            <a:ext cx="755904" cy="2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46693AF-E4DF-FBD1-A7A1-83FAD3B0D99C}"/>
              </a:ext>
            </a:extLst>
          </p:cNvPr>
          <p:cNvCxnSpPr>
            <a:stCxn id="15" idx="1"/>
            <a:endCxn id="16" idx="3"/>
          </p:cNvCxnSpPr>
          <p:nvPr/>
        </p:nvCxnSpPr>
        <p:spPr>
          <a:xfrm flipH="1">
            <a:off x="3785616" y="3900426"/>
            <a:ext cx="755904" cy="6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72A1F30-8328-C943-3DD3-0FBF41817F4F}"/>
              </a:ext>
            </a:extLst>
          </p:cNvPr>
          <p:cNvCxnSpPr>
            <a:stCxn id="16" idx="2"/>
            <a:endCxn id="17" idx="0"/>
          </p:cNvCxnSpPr>
          <p:nvPr/>
        </p:nvCxnSpPr>
        <p:spPr>
          <a:xfrm>
            <a:off x="2491740" y="4306824"/>
            <a:ext cx="0" cy="527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522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8641C-BC93-DBDB-4D0E-C40382DE8C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6E0190-EDB4-251F-A32F-D4109C288CC8}"/>
              </a:ext>
            </a:extLst>
          </p:cNvPr>
          <p:cNvSpPr txBox="1"/>
          <p:nvPr/>
        </p:nvSpPr>
        <p:spPr>
          <a:xfrm>
            <a:off x="312420" y="419793"/>
            <a:ext cx="11567160" cy="707886"/>
          </a:xfrm>
          <a:prstGeom prst="rect">
            <a:avLst/>
          </a:prstGeom>
          <a:noFill/>
        </p:spPr>
        <p:txBody>
          <a:bodyPr wrap="square" rtlCol="0">
            <a:spAutoFit/>
          </a:bodyPr>
          <a:lstStyle/>
          <a:p>
            <a:r>
              <a:rPr lang="en-IN" sz="4000" dirty="0">
                <a:latin typeface="+mj-lt"/>
              </a:rPr>
              <a:t>Kirchoff Rod Theory</a:t>
            </a:r>
          </a:p>
        </p:txBody>
      </p:sp>
      <p:sp>
        <p:nvSpPr>
          <p:cNvPr id="3" name="TextBox 2">
            <a:extLst>
              <a:ext uri="{FF2B5EF4-FFF2-40B4-BE49-F238E27FC236}">
                <a16:creationId xmlns:a16="http://schemas.microsoft.com/office/drawing/2014/main" id="{B9A15DFF-3318-13F0-0193-2F8BDDF71AA1}"/>
              </a:ext>
            </a:extLst>
          </p:cNvPr>
          <p:cNvSpPr txBox="1"/>
          <p:nvPr/>
        </p:nvSpPr>
        <p:spPr>
          <a:xfrm>
            <a:off x="530352" y="1210806"/>
            <a:ext cx="2834430" cy="646331"/>
          </a:xfrm>
          <a:prstGeom prst="rect">
            <a:avLst/>
          </a:prstGeom>
          <a:noFill/>
        </p:spPr>
        <p:txBody>
          <a:bodyPr wrap="none" rtlCol="0">
            <a:spAutoFit/>
          </a:bodyPr>
          <a:lstStyle/>
          <a:p>
            <a:r>
              <a:rPr lang="en-IN" dirty="0">
                <a:latin typeface="+mj-lt"/>
              </a:rPr>
              <a:t>Governing ODEs</a:t>
            </a:r>
          </a:p>
          <a:p>
            <a:r>
              <a:rPr lang="en-IN" dirty="0">
                <a:latin typeface="+mj-lt"/>
              </a:rPr>
              <a:t>Let number of equations be m</a:t>
            </a:r>
          </a:p>
        </p:txBody>
      </p:sp>
      <p:sp>
        <p:nvSpPr>
          <p:cNvPr id="4" name="TextBox 3">
            <a:extLst>
              <a:ext uri="{FF2B5EF4-FFF2-40B4-BE49-F238E27FC236}">
                <a16:creationId xmlns:a16="http://schemas.microsoft.com/office/drawing/2014/main" id="{D549D368-B4E7-E10B-8110-6078558FE52A}"/>
              </a:ext>
            </a:extLst>
          </p:cNvPr>
          <p:cNvSpPr txBox="1"/>
          <p:nvPr/>
        </p:nvSpPr>
        <p:spPr>
          <a:xfrm>
            <a:off x="6096000" y="1487805"/>
            <a:ext cx="3538148" cy="369332"/>
          </a:xfrm>
          <a:prstGeom prst="rect">
            <a:avLst/>
          </a:prstGeom>
          <a:noFill/>
        </p:spPr>
        <p:txBody>
          <a:bodyPr wrap="none" rtlCol="0">
            <a:spAutoFit/>
          </a:bodyPr>
          <a:lstStyle/>
          <a:p>
            <a:r>
              <a:rPr lang="en-IN" dirty="0">
                <a:latin typeface="+mj-lt"/>
              </a:rPr>
              <a:t>Boundary Conditions for our problem</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E782DE9-1117-01A5-8794-E9DAD48016FA}"/>
                  </a:ext>
                </a:extLst>
              </p:cNvPr>
              <p:cNvSpPr txBox="1"/>
              <p:nvPr/>
            </p:nvSpPr>
            <p:spPr>
              <a:xfrm>
                <a:off x="694944" y="1918692"/>
                <a:ext cx="5401056" cy="3416320"/>
              </a:xfrm>
              <a:prstGeom prst="rect">
                <a:avLst/>
              </a:prstGeom>
              <a:noFill/>
            </p:spPr>
            <p:txBody>
              <a:bodyPr wrap="square" rtlCol="0">
                <a:spAutoFit/>
              </a:bodyPr>
              <a:lstStyle/>
              <a:p>
                <a:pPr marL="285750" indent="-285750">
                  <a:buFont typeface="Arial" panose="020B0604020202020204" pitchFamily="34" charset="0"/>
                  <a:buChar char="•"/>
                </a:pPr>
                <a:r>
                  <a:rPr lang="en-IN" dirty="0"/>
                  <a:t> Force Balance</a:t>
                </a:r>
              </a:p>
              <a:p>
                <a:r>
                  <a:rPr lang="en-IN" dirty="0"/>
                  <a:t>    1) </a:t>
                </a:r>
                <a14:m>
                  <m:oMath xmlns:m="http://schemas.openxmlformats.org/officeDocument/2006/math">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𝑛</m:t>
                        </m:r>
                      </m:e>
                      <m:sub>
                        <m:r>
                          <a:rPr lang="en-IN" b="0" i="1" smtClean="0">
                            <a:latin typeface="Cambria Math" panose="02040503050406030204" pitchFamily="18" charset="0"/>
                          </a:rPr>
                          <m:t>1</m:t>
                        </m:r>
                      </m:sub>
                      <m:sup>
                        <m:r>
                          <a:rPr lang="en-IN" b="0" i="1" smtClean="0">
                            <a:latin typeface="Cambria Math" panose="02040503050406030204" pitchFamily="18" charset="0"/>
                          </a:rPr>
                          <m:t>′</m:t>
                        </m:r>
                      </m:sup>
                    </m:sSubSup>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𝑢</m:t>
                        </m:r>
                      </m:e>
                      <m:sub>
                        <m:r>
                          <a:rPr lang="en-IN" b="0" i="1" smtClean="0">
                            <a:latin typeface="Cambria Math" panose="02040503050406030204" pitchFamily="18" charset="0"/>
                          </a:rPr>
                          <m:t>2</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𝑛</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𝑓</m:t>
                        </m:r>
                      </m:e>
                      <m:sub>
                        <m:r>
                          <a:rPr lang="en-IN" b="0" i="1" smtClean="0">
                            <a:latin typeface="Cambria Math" panose="02040503050406030204" pitchFamily="18" charset="0"/>
                          </a:rPr>
                          <m:t>1</m:t>
                        </m:r>
                      </m:sub>
                    </m:sSub>
                  </m:oMath>
                </a14:m>
                <a:endParaRPr lang="en-IN" dirty="0"/>
              </a:p>
              <a:p>
                <a:r>
                  <a:rPr lang="en-IN" dirty="0"/>
                  <a:t>    2) </a:t>
                </a:r>
                <a14:m>
                  <m:oMath xmlns:m="http://schemas.openxmlformats.org/officeDocument/2006/math">
                    <m:sSubSup>
                      <m:sSubSupPr>
                        <m:ctrlPr>
                          <a:rPr lang="en-IN" i="1">
                            <a:latin typeface="Cambria Math" panose="02040503050406030204" pitchFamily="18" charset="0"/>
                          </a:rPr>
                        </m:ctrlPr>
                      </m:sSubSupPr>
                      <m:e>
                        <m:r>
                          <a:rPr lang="en-IN" i="1">
                            <a:latin typeface="Cambria Math" panose="02040503050406030204" pitchFamily="18" charset="0"/>
                          </a:rPr>
                          <m:t>𝑛</m:t>
                        </m:r>
                      </m:e>
                      <m:sub>
                        <m:r>
                          <a:rPr lang="en-IN" b="0" i="1" smtClean="0">
                            <a:latin typeface="Cambria Math" panose="02040503050406030204" pitchFamily="18" charset="0"/>
                          </a:rPr>
                          <m:t>3</m:t>
                        </m:r>
                      </m:sub>
                      <m:sup>
                        <m:r>
                          <a:rPr lang="en-IN" i="1">
                            <a:latin typeface="Cambria Math" panose="02040503050406030204" pitchFamily="18" charset="0"/>
                          </a:rPr>
                          <m:t>′</m:t>
                        </m:r>
                      </m:sup>
                    </m:sSubSup>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𝑢</m:t>
                        </m:r>
                      </m:e>
                      <m:sub>
                        <m:r>
                          <a:rPr lang="en-IN" i="1">
                            <a:latin typeface="Cambria Math" panose="02040503050406030204" pitchFamily="18" charset="0"/>
                          </a:rPr>
                          <m:t>2</m:t>
                        </m:r>
                      </m:sub>
                    </m:sSub>
                    <m:sSub>
                      <m:sSubPr>
                        <m:ctrlPr>
                          <a:rPr lang="en-IN" i="1">
                            <a:latin typeface="Cambria Math" panose="02040503050406030204" pitchFamily="18" charset="0"/>
                          </a:rPr>
                        </m:ctrlPr>
                      </m:sSubPr>
                      <m:e>
                        <m:r>
                          <a:rPr lang="en-IN" i="1">
                            <a:latin typeface="Cambria Math" panose="02040503050406030204" pitchFamily="18" charset="0"/>
                          </a:rPr>
                          <m:t>𝑛</m:t>
                        </m:r>
                      </m:e>
                      <m:sub>
                        <m:r>
                          <a:rPr lang="en-IN" b="0" i="1" smtClean="0">
                            <a:latin typeface="Cambria Math" panose="02040503050406030204" pitchFamily="18" charset="0"/>
                          </a:rPr>
                          <m:t>1</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𝑓</m:t>
                        </m:r>
                      </m:e>
                      <m:sub>
                        <m:r>
                          <a:rPr lang="en-IN" b="0" i="1" smtClean="0">
                            <a:latin typeface="Cambria Math" panose="02040503050406030204" pitchFamily="18" charset="0"/>
                          </a:rPr>
                          <m:t>3</m:t>
                        </m:r>
                      </m:sub>
                    </m:sSub>
                  </m:oMath>
                </a14:m>
                <a:endParaRPr lang="en-IN" dirty="0"/>
              </a:p>
              <a:p>
                <a:endParaRPr lang="en-IN" dirty="0"/>
              </a:p>
              <a:p>
                <a:pPr marL="285750" indent="-285750">
                  <a:buFont typeface="Arial" panose="020B0604020202020204" pitchFamily="34" charset="0"/>
                  <a:buChar char="•"/>
                </a:pPr>
                <a:r>
                  <a:rPr lang="en-IN" dirty="0"/>
                  <a:t> Momentum Balance</a:t>
                </a:r>
              </a:p>
              <a:p>
                <a:r>
                  <a:rPr lang="en-IN" dirty="0"/>
                  <a:t>    3)</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𝐾</m:t>
                        </m:r>
                      </m:e>
                      <m:sub>
                        <m:r>
                          <a:rPr lang="en-IN" b="0" i="1" smtClean="0">
                            <a:latin typeface="Cambria Math" panose="02040503050406030204" pitchFamily="18" charset="0"/>
                          </a:rPr>
                          <m:t>2</m:t>
                        </m:r>
                      </m:sub>
                    </m:sSub>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𝑢</m:t>
                        </m:r>
                      </m:e>
                      <m:sub>
                        <m:r>
                          <a:rPr lang="en-IN" b="0" i="1" smtClean="0">
                            <a:latin typeface="Cambria Math" panose="02040503050406030204" pitchFamily="18" charset="0"/>
                          </a:rPr>
                          <m:t>2</m:t>
                        </m:r>
                      </m:sub>
                      <m:sup>
                        <m:r>
                          <a:rPr lang="en-IN" b="0" i="1" smtClean="0">
                            <a:latin typeface="Cambria Math" panose="02040503050406030204" pitchFamily="18" charset="0"/>
                          </a:rPr>
                          <m:t>′</m:t>
                        </m:r>
                      </m:sup>
                    </m:sSubSup>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𝑛</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𝑙</m:t>
                        </m:r>
                      </m:e>
                      <m:sub>
                        <m:r>
                          <a:rPr lang="en-IN" b="0" i="1" smtClean="0">
                            <a:latin typeface="Cambria Math" panose="02040503050406030204" pitchFamily="18" charset="0"/>
                          </a:rPr>
                          <m:t>2</m:t>
                        </m:r>
                      </m:sub>
                    </m:sSub>
                  </m:oMath>
                </a14:m>
                <a:endParaRPr lang="en-IN" dirty="0"/>
              </a:p>
              <a:p>
                <a:endParaRPr lang="en-IN" dirty="0"/>
              </a:p>
              <a:p>
                <a:pPr marL="285750" indent="-285750">
                  <a:buFont typeface="Arial" panose="020B0604020202020204" pitchFamily="34" charset="0"/>
                  <a:buChar char="•"/>
                </a:pPr>
                <a:r>
                  <a:rPr lang="en-IN" dirty="0"/>
                  <a:t>Kinematics and Constitutive Relations</a:t>
                </a:r>
              </a:p>
              <a:p>
                <a:r>
                  <a:rPr lang="en-IN" dirty="0"/>
                  <a:t>    4)</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𝑢</m:t>
                        </m:r>
                      </m:e>
                      <m:sub>
                        <m:r>
                          <a:rPr lang="en-IN" i="1">
                            <a:latin typeface="Cambria Math" panose="02040503050406030204" pitchFamily="18" charset="0"/>
                          </a:rPr>
                          <m:t>2</m:t>
                        </m:r>
                      </m:sub>
                    </m:sSub>
                    <m:r>
                      <a:rPr lang="en-IN" i="1">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𝜃</m:t>
                        </m:r>
                      </m:e>
                      <m:sup>
                        <m:r>
                          <a:rPr lang="en-IN" i="1">
                            <a:latin typeface="Cambria Math" panose="02040503050406030204" pitchFamily="18" charset="0"/>
                          </a:rPr>
                          <m:t>′</m:t>
                        </m:r>
                      </m:sup>
                    </m:sSup>
                  </m:oMath>
                </a14:m>
                <a:endParaRPr lang="en-IN" dirty="0"/>
              </a:p>
              <a:p>
                <a:r>
                  <a:rPr lang="en-IN" dirty="0"/>
                  <a:t>    5)</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𝑟</m:t>
                        </m:r>
                      </m:e>
                      <m:sub>
                        <m:r>
                          <a:rPr lang="en-IN" b="0" i="1" smtClean="0">
                            <a:latin typeface="Cambria Math" panose="02040503050406030204" pitchFamily="18" charset="0"/>
                          </a:rPr>
                          <m:t>1</m:t>
                        </m:r>
                      </m:sub>
                    </m:sSub>
                    <m:r>
                      <a:rPr lang="en-IN" b="0" i="1" smtClean="0">
                        <a:latin typeface="Cambria Math" panose="02040503050406030204" pitchFamily="18" charset="0"/>
                      </a:rPr>
                      <m:t>′ = </m:t>
                    </m:r>
                    <m:r>
                      <m:rPr>
                        <m:sty m:val="p"/>
                      </m:rPr>
                      <a:rPr lang="en-IN" b="0" i="1" smtClean="0">
                        <a:latin typeface="Cambria Math" panose="02040503050406030204" pitchFamily="18" charset="0"/>
                      </a:rPr>
                      <m:t>sinθ</m:t>
                    </m:r>
                  </m:oMath>
                </a14:m>
                <a:endParaRPr lang="en-IN" dirty="0"/>
              </a:p>
              <a:p>
                <a:r>
                  <a:rPr lang="en-IN" dirty="0"/>
                  <a:t>    6)</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𝑟</m:t>
                        </m:r>
                      </m:e>
                      <m:sub>
                        <m:r>
                          <a:rPr lang="en-IN" b="0" i="1" smtClean="0">
                            <a:latin typeface="Cambria Math" panose="02040503050406030204" pitchFamily="18" charset="0"/>
                          </a:rPr>
                          <m:t>3</m:t>
                        </m:r>
                      </m:sub>
                    </m:sSub>
                    <m:r>
                      <a:rPr lang="en-IN" i="1">
                        <a:latin typeface="Cambria Math" panose="02040503050406030204" pitchFamily="18" charset="0"/>
                      </a:rPr>
                      <m:t>′ = </m:t>
                    </m:r>
                    <m:r>
                      <m:rPr>
                        <m:sty m:val="p"/>
                      </m:rPr>
                      <a:rPr lang="en-IN" b="0" i="1" smtClean="0">
                        <a:latin typeface="Cambria Math" panose="02040503050406030204" pitchFamily="18" charset="0"/>
                      </a:rPr>
                      <m:t>cos</m:t>
                    </m:r>
                    <m:r>
                      <m:rPr>
                        <m:sty m:val="p"/>
                      </m:rPr>
                      <a:rPr lang="en-IN" i="1">
                        <a:latin typeface="Cambria Math" panose="02040503050406030204" pitchFamily="18" charset="0"/>
                      </a:rPr>
                      <m:t>θ</m:t>
                    </m:r>
                  </m:oMath>
                </a14:m>
                <a:endParaRPr lang="en-IN" dirty="0"/>
              </a:p>
              <a:p>
                <a:endParaRPr lang="en-IN" dirty="0"/>
              </a:p>
            </p:txBody>
          </p:sp>
        </mc:Choice>
        <mc:Fallback xmlns="">
          <p:sp>
            <p:nvSpPr>
              <p:cNvPr id="5" name="TextBox 4">
                <a:extLst>
                  <a:ext uri="{FF2B5EF4-FFF2-40B4-BE49-F238E27FC236}">
                    <a16:creationId xmlns:a16="http://schemas.microsoft.com/office/drawing/2014/main" id="{6E782DE9-1117-01A5-8794-E9DAD48016FA}"/>
                  </a:ext>
                </a:extLst>
              </p:cNvPr>
              <p:cNvSpPr txBox="1">
                <a:spLocks noRot="1" noChangeAspect="1" noMove="1" noResize="1" noEditPoints="1" noAdjustHandles="1" noChangeArrowheads="1" noChangeShapeType="1" noTextEdit="1"/>
              </p:cNvSpPr>
              <p:nvPr/>
            </p:nvSpPr>
            <p:spPr>
              <a:xfrm>
                <a:off x="694944" y="1918692"/>
                <a:ext cx="5401056" cy="3416320"/>
              </a:xfrm>
              <a:prstGeom prst="rect">
                <a:avLst/>
              </a:prstGeom>
              <a:blipFill>
                <a:blip r:embed="rId2"/>
                <a:stretch>
                  <a:fillRect l="-677" t="-893"/>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01A4597C-E6E6-AF7A-AED9-885097EDF5AF}"/>
              </a:ext>
            </a:extLst>
          </p:cNvPr>
          <p:cNvPicPr>
            <a:picLocks noChangeAspect="1"/>
          </p:cNvPicPr>
          <p:nvPr/>
        </p:nvPicPr>
        <p:blipFill>
          <a:blip r:embed="rId3"/>
          <a:stretch>
            <a:fillRect/>
          </a:stretch>
        </p:blipFill>
        <p:spPr>
          <a:xfrm>
            <a:off x="6096000" y="1918692"/>
            <a:ext cx="2410161" cy="2476846"/>
          </a:xfrm>
          <a:prstGeom prst="rect">
            <a:avLst/>
          </a:prstGeom>
        </p:spPr>
      </p:pic>
    </p:spTree>
    <p:extLst>
      <p:ext uri="{BB962C8B-B14F-4D97-AF65-F5344CB8AC3E}">
        <p14:creationId xmlns:p14="http://schemas.microsoft.com/office/powerpoint/2010/main" val="3903930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B1792-B501-CB8A-EB38-82A27006FC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1BF8CB-9931-1A0E-100A-F96D68AE025A}"/>
              </a:ext>
            </a:extLst>
          </p:cNvPr>
          <p:cNvSpPr txBox="1"/>
          <p:nvPr/>
        </p:nvSpPr>
        <p:spPr>
          <a:xfrm>
            <a:off x="312420" y="502920"/>
            <a:ext cx="11567160" cy="707886"/>
          </a:xfrm>
          <a:prstGeom prst="rect">
            <a:avLst/>
          </a:prstGeom>
          <a:noFill/>
        </p:spPr>
        <p:txBody>
          <a:bodyPr wrap="square" rtlCol="0">
            <a:spAutoFit/>
          </a:bodyPr>
          <a:lstStyle/>
          <a:p>
            <a:r>
              <a:rPr lang="en-IN" sz="4000" dirty="0">
                <a:latin typeface="+mj-lt"/>
              </a:rPr>
              <a:t>Finite Discretization Method</a:t>
            </a:r>
          </a:p>
        </p:txBody>
      </p:sp>
      <p:sp>
        <p:nvSpPr>
          <p:cNvPr id="3" name="TextBox 2">
            <a:extLst>
              <a:ext uri="{FF2B5EF4-FFF2-40B4-BE49-F238E27FC236}">
                <a16:creationId xmlns:a16="http://schemas.microsoft.com/office/drawing/2014/main" id="{A44E071F-C73B-EB09-DFAF-603534E82D74}"/>
              </a:ext>
            </a:extLst>
          </p:cNvPr>
          <p:cNvSpPr txBox="1"/>
          <p:nvPr/>
        </p:nvSpPr>
        <p:spPr>
          <a:xfrm>
            <a:off x="489526" y="1210806"/>
            <a:ext cx="11296073" cy="369332"/>
          </a:xfrm>
          <a:prstGeom prst="rect">
            <a:avLst/>
          </a:prstGeom>
          <a:noFill/>
        </p:spPr>
        <p:txBody>
          <a:bodyPr wrap="square" rtlCol="0">
            <a:spAutoFit/>
          </a:bodyPr>
          <a:lstStyle/>
          <a:p>
            <a:r>
              <a:rPr lang="en-IN" dirty="0"/>
              <a:t>Step1: The domain is divided into n elements, so our domain has now n+1 points, including the endpoints.</a:t>
            </a:r>
          </a:p>
        </p:txBody>
      </p:sp>
      <p:sp>
        <p:nvSpPr>
          <p:cNvPr id="4" name="TextBox 3">
            <a:extLst>
              <a:ext uri="{FF2B5EF4-FFF2-40B4-BE49-F238E27FC236}">
                <a16:creationId xmlns:a16="http://schemas.microsoft.com/office/drawing/2014/main" id="{95CC5773-38F5-CAF4-FB77-6D7F0E338023}"/>
              </a:ext>
            </a:extLst>
          </p:cNvPr>
          <p:cNvSpPr txBox="1"/>
          <p:nvPr/>
        </p:nvSpPr>
        <p:spPr>
          <a:xfrm>
            <a:off x="489526" y="2456873"/>
            <a:ext cx="11390054" cy="369332"/>
          </a:xfrm>
          <a:prstGeom prst="rect">
            <a:avLst/>
          </a:prstGeom>
          <a:noFill/>
        </p:spPr>
        <p:txBody>
          <a:bodyPr wrap="square" rtlCol="0">
            <a:spAutoFit/>
          </a:bodyPr>
          <a:lstStyle/>
          <a:p>
            <a:r>
              <a:rPr lang="en-IN" dirty="0"/>
              <a:t>Step 2: We want to evaluate the values of variables at the midpoints of these points(midpoint method)</a:t>
            </a:r>
          </a:p>
        </p:txBody>
      </p:sp>
      <p:pic>
        <p:nvPicPr>
          <p:cNvPr id="6" name="Picture 5">
            <a:extLst>
              <a:ext uri="{FF2B5EF4-FFF2-40B4-BE49-F238E27FC236}">
                <a16:creationId xmlns:a16="http://schemas.microsoft.com/office/drawing/2014/main" id="{4B693B4B-7C33-77E9-F5DE-0F79279F92F1}"/>
              </a:ext>
            </a:extLst>
          </p:cNvPr>
          <p:cNvPicPr>
            <a:picLocks noChangeAspect="1"/>
          </p:cNvPicPr>
          <p:nvPr/>
        </p:nvPicPr>
        <p:blipFill>
          <a:blip r:embed="rId2"/>
          <a:stretch>
            <a:fillRect/>
          </a:stretch>
        </p:blipFill>
        <p:spPr>
          <a:xfrm>
            <a:off x="895927" y="1525563"/>
            <a:ext cx="8035637" cy="931310"/>
          </a:xfrm>
          <a:prstGeom prst="rect">
            <a:avLst/>
          </a:prstGeom>
        </p:spPr>
      </p:pic>
      <p:pic>
        <p:nvPicPr>
          <p:cNvPr id="8" name="Picture 7">
            <a:extLst>
              <a:ext uri="{FF2B5EF4-FFF2-40B4-BE49-F238E27FC236}">
                <a16:creationId xmlns:a16="http://schemas.microsoft.com/office/drawing/2014/main" id="{925DA0B9-68A6-692E-B216-E816C3DD8C25}"/>
              </a:ext>
            </a:extLst>
          </p:cNvPr>
          <p:cNvPicPr>
            <a:picLocks noChangeAspect="1"/>
          </p:cNvPicPr>
          <p:nvPr/>
        </p:nvPicPr>
        <p:blipFill>
          <a:blip r:embed="rId3"/>
          <a:stretch>
            <a:fillRect/>
          </a:stretch>
        </p:blipFill>
        <p:spPr>
          <a:xfrm>
            <a:off x="997527" y="2826205"/>
            <a:ext cx="7934037" cy="683969"/>
          </a:xfrm>
          <a:prstGeom prst="rect">
            <a:avLst/>
          </a:prstGeom>
        </p:spPr>
      </p:pic>
      <p:sp>
        <p:nvSpPr>
          <p:cNvPr id="9" name="TextBox 8">
            <a:extLst>
              <a:ext uri="{FF2B5EF4-FFF2-40B4-BE49-F238E27FC236}">
                <a16:creationId xmlns:a16="http://schemas.microsoft.com/office/drawing/2014/main" id="{82EA31E9-9ACB-93B2-F23F-63C576E23E70}"/>
              </a:ext>
            </a:extLst>
          </p:cNvPr>
          <p:cNvSpPr txBox="1"/>
          <p:nvPr/>
        </p:nvSpPr>
        <p:spPr>
          <a:xfrm>
            <a:off x="489526" y="3702939"/>
            <a:ext cx="11296073" cy="1200329"/>
          </a:xfrm>
          <a:prstGeom prst="rect">
            <a:avLst/>
          </a:prstGeom>
          <a:noFill/>
        </p:spPr>
        <p:txBody>
          <a:bodyPr wrap="square" rtlCol="0">
            <a:spAutoFit/>
          </a:bodyPr>
          <a:lstStyle/>
          <a:p>
            <a:r>
              <a:rPr lang="en-IN" dirty="0"/>
              <a:t>Step 3: Define all the variables. We will have (n+1)*m Variables in total.</a:t>
            </a:r>
            <a:br>
              <a:rPr lang="en-IN" dirty="0"/>
            </a:br>
            <a:r>
              <a:rPr lang="en-IN" dirty="0"/>
              <a:t>          We have ‘m’ boundary conditions provided by the user. </a:t>
            </a:r>
          </a:p>
          <a:p>
            <a:r>
              <a:rPr lang="en-IN" dirty="0"/>
              <a:t>          Continuity gives us n*m more boundary conditions.</a:t>
            </a:r>
          </a:p>
          <a:p>
            <a:r>
              <a:rPr lang="en-IN" dirty="0"/>
              <a:t>          Hence, the system becomes solvable.</a:t>
            </a:r>
          </a:p>
        </p:txBody>
      </p:sp>
      <p:sp>
        <p:nvSpPr>
          <p:cNvPr id="10" name="TextBox 9">
            <a:extLst>
              <a:ext uri="{FF2B5EF4-FFF2-40B4-BE49-F238E27FC236}">
                <a16:creationId xmlns:a16="http://schemas.microsoft.com/office/drawing/2014/main" id="{8CACA1D6-4775-CB96-D25D-035A06FB9C54}"/>
              </a:ext>
            </a:extLst>
          </p:cNvPr>
          <p:cNvSpPr txBox="1"/>
          <p:nvPr/>
        </p:nvSpPr>
        <p:spPr>
          <a:xfrm>
            <a:off x="489526" y="5096033"/>
            <a:ext cx="11185235" cy="923330"/>
          </a:xfrm>
          <a:prstGeom prst="rect">
            <a:avLst/>
          </a:prstGeom>
          <a:noFill/>
        </p:spPr>
        <p:txBody>
          <a:bodyPr wrap="square" rtlCol="0">
            <a:spAutoFit/>
          </a:bodyPr>
          <a:lstStyle/>
          <a:p>
            <a:r>
              <a:rPr lang="en-IN" dirty="0"/>
              <a:t>Step 4: After applying finite difference formulae to the derivatives within the equation, we finally have a giant list of n*m algebraic equations. We plug these into a pseudo arc length numerical continuation solver to get various solutions that vary with the parameter, in this case force P.</a:t>
            </a:r>
          </a:p>
        </p:txBody>
      </p:sp>
    </p:spTree>
    <p:extLst>
      <p:ext uri="{BB962C8B-B14F-4D97-AF65-F5344CB8AC3E}">
        <p14:creationId xmlns:p14="http://schemas.microsoft.com/office/powerpoint/2010/main" val="1472447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9F38A-A1E9-7EE8-3BD1-599594B515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66FCED-C0C9-DD50-8197-0F91E3473F2B}"/>
              </a:ext>
            </a:extLst>
          </p:cNvPr>
          <p:cNvSpPr txBox="1"/>
          <p:nvPr/>
        </p:nvSpPr>
        <p:spPr>
          <a:xfrm>
            <a:off x="312420" y="502920"/>
            <a:ext cx="11567160" cy="707886"/>
          </a:xfrm>
          <a:prstGeom prst="rect">
            <a:avLst/>
          </a:prstGeom>
          <a:noFill/>
        </p:spPr>
        <p:txBody>
          <a:bodyPr wrap="square" rtlCol="0">
            <a:spAutoFit/>
          </a:bodyPr>
          <a:lstStyle/>
          <a:p>
            <a:r>
              <a:rPr lang="en-IN" sz="4000" dirty="0">
                <a:latin typeface="+mj-lt"/>
              </a:rPr>
              <a:t>What is Numerical Continuation?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B948CE9-2E7E-4FAE-DD72-3407C03DACFD}"/>
                  </a:ext>
                </a:extLst>
              </p:cNvPr>
              <p:cNvSpPr txBox="1"/>
              <p:nvPr/>
            </p:nvSpPr>
            <p:spPr>
              <a:xfrm>
                <a:off x="312420" y="1302326"/>
                <a:ext cx="11205325" cy="5632311"/>
              </a:xfrm>
              <a:prstGeom prst="rect">
                <a:avLst/>
              </a:prstGeom>
              <a:noFill/>
            </p:spPr>
            <p:txBody>
              <a:bodyPr wrap="square" rtlCol="0">
                <a:spAutoFit/>
              </a:bodyPr>
              <a:lstStyle/>
              <a:p>
                <a:r>
                  <a:rPr lang="en-IN" dirty="0"/>
                  <a:t>Say we have a system of equations given by G(u , </a:t>
                </a:r>
                <a14:m>
                  <m:oMath xmlns:m="http://schemas.openxmlformats.org/officeDocument/2006/math">
                    <m:r>
                      <a:rPr lang="en-IN" b="0" i="1" smtClean="0">
                        <a:latin typeface="Cambria Math" panose="02040503050406030204" pitchFamily="18" charset="0"/>
                      </a:rPr>
                      <m:t>𝜆</m:t>
                    </m:r>
                    <m:r>
                      <a:rPr lang="en-IN" b="0" i="1" smtClean="0">
                        <a:latin typeface="Cambria Math" panose="02040503050406030204" pitchFamily="18" charset="0"/>
                      </a:rPr>
                      <m:t>).  </m:t>
                    </m:r>
                  </m:oMath>
                </a14:m>
                <a:r>
                  <a:rPr lang="en-IN" b="0" dirty="0"/>
                  <a:t> Where u is the set of solutions for a parameter value of </a:t>
                </a:r>
                <a14:m>
                  <m:oMath xmlns:m="http://schemas.openxmlformats.org/officeDocument/2006/math">
                    <m:r>
                      <m:rPr>
                        <m:sty m:val="p"/>
                      </m:rPr>
                      <a:rPr lang="en-IN" b="0" i="1" smtClean="0">
                        <a:latin typeface="Cambria Math" panose="02040503050406030204" pitchFamily="18" charset="0"/>
                      </a:rPr>
                      <m:t>λ</m:t>
                    </m:r>
                    <m:r>
                      <a:rPr lang="en-IN" b="0" i="1" smtClean="0">
                        <a:latin typeface="Cambria Math" panose="02040503050406030204" pitchFamily="18" charset="0"/>
                      </a:rPr>
                      <m:t>.</m:t>
                    </m:r>
                  </m:oMath>
                </a14:m>
                <a:endParaRPr lang="en-IN" b="0" dirty="0"/>
              </a:p>
              <a:p>
                <a:r>
                  <a:rPr lang="en-IN" dirty="0"/>
                  <a:t>If we know one solution G(</a:t>
                </a:r>
                <a14:m>
                  <m:oMath xmlns:m="http://schemas.openxmlformats.org/officeDocument/2006/math">
                    <m:sSub>
                      <m:sSubPr>
                        <m:ctrlPr>
                          <a:rPr lang="en-IN" i="1">
                            <a:latin typeface="Cambria Math" panose="02040503050406030204" pitchFamily="18" charset="0"/>
                          </a:rPr>
                        </m:ctrlPr>
                      </m:sSubPr>
                      <m:e>
                        <m:r>
                          <m:rPr>
                            <m:sty m:val="p"/>
                          </m:rPr>
                          <a:rPr lang="en-IN" i="1">
                            <a:latin typeface="Cambria Math" panose="02040503050406030204" pitchFamily="18" charset="0"/>
                          </a:rPr>
                          <m:t>u</m:t>
                        </m:r>
                      </m:e>
                      <m:sub>
                        <m:r>
                          <a:rPr lang="en-IN" i="1">
                            <a:latin typeface="Cambria Math" panose="02040503050406030204" pitchFamily="18" charset="0"/>
                          </a:rPr>
                          <m:t>0</m:t>
                        </m:r>
                      </m:sub>
                    </m:sSub>
                    <m:r>
                      <a:rPr lang="en-IN" i="1">
                        <a:latin typeface="Cambria Math" panose="02040503050406030204" pitchFamily="18" charset="0"/>
                      </a:rPr>
                      <m:t>,</m:t>
                    </m:r>
                    <m:sSub>
                      <m:sSubPr>
                        <m:ctrlPr>
                          <a:rPr lang="en-IN" i="1">
                            <a:latin typeface="Cambria Math" panose="02040503050406030204" pitchFamily="18" charset="0"/>
                          </a:rPr>
                        </m:ctrlPr>
                      </m:sSubPr>
                      <m:e>
                        <m:r>
                          <m:rPr>
                            <m:sty m:val="p"/>
                          </m:rPr>
                          <a:rPr lang="en-IN" i="1">
                            <a:latin typeface="Cambria Math" panose="02040503050406030204" pitchFamily="18" charset="0"/>
                          </a:rPr>
                          <m:t>λ</m:t>
                        </m:r>
                      </m:e>
                      <m:sub>
                        <m:r>
                          <a:rPr lang="en-IN" i="1">
                            <a:latin typeface="Cambria Math" panose="02040503050406030204" pitchFamily="18" charset="0"/>
                          </a:rPr>
                          <m:t>0</m:t>
                        </m:r>
                      </m:sub>
                    </m:sSub>
                    <m:r>
                      <a:rPr lang="en-IN" b="0" i="1" smtClean="0">
                        <a:latin typeface="Cambria Math" panose="02040503050406030204" pitchFamily="18" charset="0"/>
                      </a:rPr>
                      <m:t>)</m:t>
                    </m:r>
                  </m:oMath>
                </a14:m>
                <a:r>
                  <a:rPr lang="en-IN" b="0" dirty="0"/>
                  <a:t> as a starter, numerical continuation is basically following this solution to get solutions at other values of lambda. We need to first make sure that a family of solutions exists as we vary </a:t>
                </a:r>
                <a14:m>
                  <m:oMath xmlns:m="http://schemas.openxmlformats.org/officeDocument/2006/math">
                    <m:r>
                      <m:rPr>
                        <m:sty m:val="p"/>
                      </m:rPr>
                      <a:rPr lang="en-IN" i="1">
                        <a:latin typeface="Cambria Math" panose="02040503050406030204" pitchFamily="18" charset="0"/>
                      </a:rPr>
                      <m:t>λ</m:t>
                    </m:r>
                    <m:r>
                      <a:rPr lang="en-IN" i="1">
                        <a:latin typeface="Cambria Math" panose="02040503050406030204" pitchFamily="18" charset="0"/>
                      </a:rPr>
                      <m:t>.</m:t>
                    </m:r>
                  </m:oMath>
                </a14:m>
                <a:r>
                  <a:rPr lang="en-IN" dirty="0"/>
                  <a:t> We use the implicit function theorem to prove this.</a:t>
                </a:r>
              </a:p>
              <a:p>
                <a:endParaRPr lang="en-IN" dirty="0"/>
              </a:p>
              <a:p>
                <a:r>
                  <a:rPr lang="en-IN" dirty="0"/>
                  <a:t>There exists a smooth family of solutions such that,</a:t>
                </a:r>
              </a:p>
              <a:p>
                <a:pPr marL="342900" indent="-342900">
                  <a:buFont typeface="+mj-lt"/>
                  <a:buAutoNum type="arabicPeriod"/>
                </a:pPr>
                <a:r>
                  <a:rPr lang="en-IN" dirty="0"/>
                  <a:t>G(u(</a:t>
                </a:r>
                <a14:m>
                  <m:oMath xmlns:m="http://schemas.openxmlformats.org/officeDocument/2006/math">
                    <m:r>
                      <m:rPr>
                        <m:sty m:val="p"/>
                      </m:rPr>
                      <a:rPr lang="en-IN" b="0" i="1" smtClean="0">
                        <a:latin typeface="Cambria Math" panose="02040503050406030204" pitchFamily="18" charset="0"/>
                      </a:rPr>
                      <m:t>λ</m:t>
                    </m:r>
                    <m:r>
                      <a:rPr lang="en-IN" b="0" i="1" smtClean="0">
                        <a:latin typeface="Cambria Math" panose="02040503050406030204" pitchFamily="18" charset="0"/>
                      </a:rPr>
                      <m:t>)</m:t>
                    </m:r>
                  </m:oMath>
                </a14:m>
                <a:r>
                  <a:rPr lang="en-IN" dirty="0"/>
                  <a:t> , </a:t>
                </a:r>
                <a14:m>
                  <m:oMath xmlns:m="http://schemas.openxmlformats.org/officeDocument/2006/math">
                    <m:r>
                      <a:rPr lang="en-IN" i="1">
                        <a:latin typeface="Cambria Math" panose="02040503050406030204" pitchFamily="18" charset="0"/>
                      </a:rPr>
                      <m:t>𝜆</m:t>
                    </m:r>
                    <m:r>
                      <a:rPr lang="en-IN" i="1">
                        <a:latin typeface="Cambria Math" panose="02040503050406030204" pitchFamily="18" charset="0"/>
                      </a:rPr>
                      <m:t>) = 0</m:t>
                    </m:r>
                  </m:oMath>
                </a14:m>
                <a:endParaRPr lang="en-IN" dirty="0"/>
              </a:p>
              <a:p>
                <a:pPr marL="342900" indent="-342900">
                  <a:buFont typeface="+mj-lt"/>
                  <a:buAutoNum type="arabicPeriod"/>
                </a:pPr>
                <a:r>
                  <a:rPr lang="en-IN" dirty="0"/>
                  <a:t>u(</a:t>
                </a:r>
                <a14:m>
                  <m:oMath xmlns:m="http://schemas.openxmlformats.org/officeDocument/2006/math">
                    <m:r>
                      <m:rPr>
                        <m:sty m:val="p"/>
                      </m:rPr>
                      <a:rPr lang="en-IN" b="0" i="1" smtClean="0">
                        <a:latin typeface="Cambria Math" panose="02040503050406030204" pitchFamily="18" charset="0"/>
                      </a:rPr>
                      <m:t>λ</m:t>
                    </m:r>
                    <m:r>
                      <a:rPr lang="en-IN" b="0" i="1" smtClean="0">
                        <a:latin typeface="Cambria Math" panose="02040503050406030204" pitchFamily="18" charset="0"/>
                      </a:rPr>
                      <m:t>) = </m:t>
                    </m:r>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u</m:t>
                        </m:r>
                      </m:e>
                      <m:sub>
                        <m:r>
                          <a:rPr lang="en-IN" b="0" i="1" smtClean="0">
                            <a:latin typeface="Cambria Math" panose="02040503050406030204" pitchFamily="18" charset="0"/>
                          </a:rPr>
                          <m:t>0</m:t>
                        </m:r>
                      </m:sub>
                    </m:sSub>
                  </m:oMath>
                </a14:m>
                <a:endParaRPr lang="en-IN" dirty="0"/>
              </a:p>
              <a:p>
                <a:endParaRPr lang="en-IN" dirty="0"/>
              </a:p>
              <a:p>
                <a:r>
                  <a:rPr lang="en-IN" dirty="0"/>
                  <a:t>If and Only If the following conditions are satisfied:-</a:t>
                </a:r>
              </a:p>
              <a:p>
                <a:pPr marL="342900" indent="-342900">
                  <a:buFont typeface="+mj-lt"/>
                  <a:buAutoNum type="arabicPeriod"/>
                </a:pPr>
                <a:r>
                  <a:rPr lang="en-IN" dirty="0"/>
                  <a:t>G(</a:t>
                </a:r>
                <a14:m>
                  <m:oMath xmlns:m="http://schemas.openxmlformats.org/officeDocument/2006/math">
                    <m:sSub>
                      <m:sSubPr>
                        <m:ctrlPr>
                          <a:rPr lang="en-IN" i="1">
                            <a:latin typeface="Cambria Math" panose="02040503050406030204" pitchFamily="18" charset="0"/>
                          </a:rPr>
                        </m:ctrlPr>
                      </m:sSubPr>
                      <m:e>
                        <m:r>
                          <m:rPr>
                            <m:sty m:val="p"/>
                          </m:rPr>
                          <a:rPr lang="en-IN" i="1">
                            <a:latin typeface="Cambria Math" panose="02040503050406030204" pitchFamily="18" charset="0"/>
                          </a:rPr>
                          <m:t>u</m:t>
                        </m:r>
                      </m:e>
                      <m:sub>
                        <m:r>
                          <a:rPr lang="en-IN" i="1">
                            <a:latin typeface="Cambria Math" panose="02040503050406030204" pitchFamily="18" charset="0"/>
                          </a:rPr>
                          <m:t>0</m:t>
                        </m:r>
                      </m:sub>
                    </m:sSub>
                    <m:r>
                      <a:rPr lang="en-IN" i="1">
                        <a:latin typeface="Cambria Math" panose="02040503050406030204" pitchFamily="18" charset="0"/>
                      </a:rPr>
                      <m:t>,</m:t>
                    </m:r>
                    <m:sSub>
                      <m:sSubPr>
                        <m:ctrlPr>
                          <a:rPr lang="en-IN" i="1">
                            <a:latin typeface="Cambria Math" panose="02040503050406030204" pitchFamily="18" charset="0"/>
                          </a:rPr>
                        </m:ctrlPr>
                      </m:sSubPr>
                      <m:e>
                        <m:r>
                          <m:rPr>
                            <m:sty m:val="p"/>
                          </m:rPr>
                          <a:rPr lang="en-IN" i="1">
                            <a:latin typeface="Cambria Math" panose="02040503050406030204" pitchFamily="18" charset="0"/>
                          </a:rPr>
                          <m:t>λ</m:t>
                        </m:r>
                      </m:e>
                      <m:sub>
                        <m:r>
                          <a:rPr lang="en-IN" i="1">
                            <a:latin typeface="Cambria Math" panose="02040503050406030204" pitchFamily="18" charset="0"/>
                          </a:rPr>
                          <m:t>0</m:t>
                        </m:r>
                      </m:sub>
                    </m:sSub>
                    <m:r>
                      <a:rPr lang="en-IN" i="1">
                        <a:latin typeface="Cambria Math" panose="02040503050406030204" pitchFamily="18" charset="0"/>
                      </a:rPr>
                      <m:t>)</m:t>
                    </m:r>
                    <m:r>
                      <a:rPr lang="en-IN" b="0" i="1" smtClean="0">
                        <a:latin typeface="Cambria Math" panose="02040503050406030204" pitchFamily="18" charset="0"/>
                      </a:rPr>
                      <m:t> = 0</m:t>
                    </m:r>
                  </m:oMath>
                </a14:m>
                <a:r>
                  <a:rPr lang="en-IN" b="0" dirty="0"/>
                  <a:t> (starting solution satisfied)</a:t>
                </a:r>
              </a:p>
              <a:p>
                <a:r>
                  <a:rPr lang="en-IN" dirty="0"/>
                  <a:t>2.  </a:t>
                </a:r>
                <a14:m>
                  <m:oMath xmlns:m="http://schemas.openxmlformats.org/officeDocument/2006/math">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G</m:t>
                        </m:r>
                      </m:e>
                      <m:sub>
                        <m:r>
                          <m:rPr>
                            <m:sty m:val="p"/>
                          </m:rPr>
                          <a:rPr lang="en-IN" b="0" i="1" smtClean="0">
                            <a:latin typeface="Cambria Math" panose="02040503050406030204" pitchFamily="18" charset="0"/>
                          </a:rPr>
                          <m:t>u</m:t>
                        </m:r>
                      </m:sub>
                    </m:sSub>
                  </m:oMath>
                </a14:m>
                <a:r>
                  <a:rPr lang="en-IN" dirty="0"/>
                  <a:t>(</a:t>
                </a:r>
                <a14:m>
                  <m:oMath xmlns:m="http://schemas.openxmlformats.org/officeDocument/2006/math">
                    <m:sSub>
                      <m:sSubPr>
                        <m:ctrlPr>
                          <a:rPr lang="en-IN" i="1">
                            <a:latin typeface="Cambria Math" panose="02040503050406030204" pitchFamily="18" charset="0"/>
                          </a:rPr>
                        </m:ctrlPr>
                      </m:sSubPr>
                      <m:e>
                        <m:r>
                          <m:rPr>
                            <m:sty m:val="p"/>
                          </m:rPr>
                          <a:rPr lang="en-IN" i="1">
                            <a:latin typeface="Cambria Math" panose="02040503050406030204" pitchFamily="18" charset="0"/>
                          </a:rPr>
                          <m:t>u</m:t>
                        </m:r>
                      </m:e>
                      <m:sub>
                        <m:r>
                          <a:rPr lang="en-IN" i="1">
                            <a:latin typeface="Cambria Math" panose="02040503050406030204" pitchFamily="18" charset="0"/>
                          </a:rPr>
                          <m:t>0</m:t>
                        </m:r>
                      </m:sub>
                    </m:sSub>
                    <m:r>
                      <a:rPr lang="en-IN" i="1">
                        <a:latin typeface="Cambria Math" panose="02040503050406030204" pitchFamily="18" charset="0"/>
                      </a:rPr>
                      <m:t>,</m:t>
                    </m:r>
                    <m:sSub>
                      <m:sSubPr>
                        <m:ctrlPr>
                          <a:rPr lang="en-IN" i="1">
                            <a:latin typeface="Cambria Math" panose="02040503050406030204" pitchFamily="18" charset="0"/>
                          </a:rPr>
                        </m:ctrlPr>
                      </m:sSubPr>
                      <m:e>
                        <m:r>
                          <m:rPr>
                            <m:sty m:val="p"/>
                          </m:rPr>
                          <a:rPr lang="en-IN" i="1">
                            <a:latin typeface="Cambria Math" panose="02040503050406030204" pitchFamily="18" charset="0"/>
                          </a:rPr>
                          <m:t>λ</m:t>
                        </m:r>
                      </m:e>
                      <m:sub>
                        <m:r>
                          <a:rPr lang="en-IN" i="1">
                            <a:latin typeface="Cambria Math" panose="02040503050406030204" pitchFamily="18" charset="0"/>
                          </a:rPr>
                          <m:t>0</m:t>
                        </m:r>
                      </m:sub>
                    </m:sSub>
                    <m:r>
                      <a:rPr lang="en-IN" i="1">
                        <a:latin typeface="Cambria Math" panose="02040503050406030204" pitchFamily="18" charset="0"/>
                      </a:rPr>
                      <m:t>)</m:t>
                    </m:r>
                  </m:oMath>
                </a14:m>
                <a:r>
                  <a:rPr lang="en-IN" dirty="0"/>
                  <a:t> is non singular. (must be checked in code)</a:t>
                </a:r>
              </a:p>
              <a:p>
                <a:pPr marL="342900" indent="-342900">
                  <a:buAutoNum type="arabicPeriod" startAt="3"/>
                </a:pPr>
                <a:r>
                  <a:rPr lang="en-IN" dirty="0"/>
                  <a:t>G and </a:t>
                </a:r>
                <a14:m>
                  <m:oMath xmlns:m="http://schemas.openxmlformats.org/officeDocument/2006/math">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G</m:t>
                        </m:r>
                      </m:e>
                      <m:sub>
                        <m:r>
                          <m:rPr>
                            <m:sty m:val="p"/>
                          </m:rPr>
                          <a:rPr lang="en-IN" b="0" i="1" smtClean="0">
                            <a:latin typeface="Cambria Math" panose="02040503050406030204" pitchFamily="18" charset="0"/>
                          </a:rPr>
                          <m:t>u</m:t>
                        </m:r>
                      </m:sub>
                    </m:sSub>
                  </m:oMath>
                </a14:m>
                <a:r>
                  <a:rPr lang="en-IN" dirty="0"/>
                  <a:t> are smooth near </a:t>
                </a:r>
                <a14:m>
                  <m:oMath xmlns:m="http://schemas.openxmlformats.org/officeDocument/2006/math">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u</m:t>
                        </m:r>
                      </m:e>
                      <m:sub>
                        <m:r>
                          <a:rPr lang="en-IN" b="0" i="1" smtClean="0">
                            <a:latin typeface="Cambria Math" panose="02040503050406030204" pitchFamily="18" charset="0"/>
                          </a:rPr>
                          <m:t>0</m:t>
                        </m:r>
                      </m:sub>
                    </m:sSub>
                    <m:r>
                      <a:rPr lang="en-IN" b="0" i="1" smtClean="0">
                        <a:latin typeface="Cambria Math" panose="02040503050406030204" pitchFamily="18" charset="0"/>
                      </a:rPr>
                      <m:t>.</m:t>
                    </m:r>
                  </m:oMath>
                </a14:m>
                <a:endParaRPr lang="en-IN" dirty="0"/>
              </a:p>
              <a:p>
                <a:pPr marL="342900" indent="-342900">
                  <a:buAutoNum type="arabicPeriod" startAt="3"/>
                </a:pPr>
                <a:endParaRPr lang="en-IN" dirty="0"/>
              </a:p>
              <a:p>
                <a:r>
                  <a:rPr lang="en-IN" dirty="0"/>
                  <a:t>Numerical continuation in our code basically uses Newton Raphson. The </a:t>
                </a:r>
                <a:r>
                  <a:rPr lang="en-IN" dirty="0" err="1"/>
                  <a:t>Findroot</a:t>
                </a:r>
                <a:r>
                  <a:rPr lang="en-IN" dirty="0"/>
                  <a:t> function of </a:t>
                </a:r>
                <a:r>
                  <a:rPr lang="en-IN" dirty="0" err="1"/>
                  <a:t>mathematica</a:t>
                </a:r>
                <a:r>
                  <a:rPr lang="en-IN" dirty="0"/>
                  <a:t> is Newton-Raphson.</a:t>
                </a:r>
              </a:p>
              <a:p>
                <a:pPr marL="342900" indent="-342900">
                  <a:buFont typeface="+mj-lt"/>
                  <a:buAutoNum type="arabicPeriod"/>
                </a:pPr>
                <a:endParaRPr lang="en-IN" dirty="0"/>
              </a:p>
              <a:p>
                <a:pPr marL="342900" indent="-342900">
                  <a:buFont typeface="+mj-lt"/>
                  <a:buAutoNum type="arabicPeriod"/>
                </a:pPr>
                <a:endParaRPr lang="en-IN" dirty="0"/>
              </a:p>
              <a:p>
                <a:endParaRPr lang="en-IN" b="0" dirty="0"/>
              </a:p>
              <a:p>
                <a:endParaRPr lang="en-IN" b="0" dirty="0"/>
              </a:p>
            </p:txBody>
          </p:sp>
        </mc:Choice>
        <mc:Fallback xmlns="">
          <p:sp>
            <p:nvSpPr>
              <p:cNvPr id="3" name="TextBox 2">
                <a:extLst>
                  <a:ext uri="{FF2B5EF4-FFF2-40B4-BE49-F238E27FC236}">
                    <a16:creationId xmlns:a16="http://schemas.microsoft.com/office/drawing/2014/main" id="{EB948CE9-2E7E-4FAE-DD72-3407C03DACFD}"/>
                  </a:ext>
                </a:extLst>
              </p:cNvPr>
              <p:cNvSpPr txBox="1">
                <a:spLocks noRot="1" noChangeAspect="1" noMove="1" noResize="1" noEditPoints="1" noAdjustHandles="1" noChangeArrowheads="1" noChangeShapeType="1" noTextEdit="1"/>
              </p:cNvSpPr>
              <p:nvPr/>
            </p:nvSpPr>
            <p:spPr>
              <a:xfrm>
                <a:off x="312420" y="1302326"/>
                <a:ext cx="11205325" cy="5632311"/>
              </a:xfrm>
              <a:prstGeom prst="rect">
                <a:avLst/>
              </a:prstGeom>
              <a:blipFill>
                <a:blip r:embed="rId2"/>
                <a:stretch>
                  <a:fillRect l="-435" t="-541" r="-490"/>
                </a:stretch>
              </a:blipFill>
            </p:spPr>
            <p:txBody>
              <a:bodyPr/>
              <a:lstStyle/>
              <a:p>
                <a:r>
                  <a:rPr lang="en-IN">
                    <a:noFill/>
                  </a:rPr>
                  <a:t> </a:t>
                </a:r>
              </a:p>
            </p:txBody>
          </p:sp>
        </mc:Fallback>
      </mc:AlternateContent>
    </p:spTree>
    <p:extLst>
      <p:ext uri="{BB962C8B-B14F-4D97-AF65-F5344CB8AC3E}">
        <p14:creationId xmlns:p14="http://schemas.microsoft.com/office/powerpoint/2010/main" val="1607893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A370B-612C-D8C1-9245-FEC7D4F38E6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9FF206-918D-177F-CA30-6AEEB9EDDC73}"/>
              </a:ext>
            </a:extLst>
          </p:cNvPr>
          <p:cNvSpPr txBox="1"/>
          <p:nvPr/>
        </p:nvSpPr>
        <p:spPr>
          <a:xfrm>
            <a:off x="312420" y="502920"/>
            <a:ext cx="5783580" cy="461665"/>
          </a:xfrm>
          <a:prstGeom prst="rect">
            <a:avLst/>
          </a:prstGeom>
          <a:noFill/>
        </p:spPr>
        <p:txBody>
          <a:bodyPr wrap="square" rtlCol="0">
            <a:spAutoFit/>
          </a:bodyPr>
          <a:lstStyle/>
          <a:p>
            <a:r>
              <a:rPr lang="en-IN" sz="2400" dirty="0">
                <a:latin typeface="+mj-lt"/>
              </a:rPr>
              <a:t>Parameter Continuation</a:t>
            </a:r>
          </a:p>
        </p:txBody>
      </p:sp>
      <p:sp>
        <p:nvSpPr>
          <p:cNvPr id="3" name="TextBox 2">
            <a:extLst>
              <a:ext uri="{FF2B5EF4-FFF2-40B4-BE49-F238E27FC236}">
                <a16:creationId xmlns:a16="http://schemas.microsoft.com/office/drawing/2014/main" id="{F2B23AC8-4EE6-651B-F69D-60DE4A5F0930}"/>
              </a:ext>
            </a:extLst>
          </p:cNvPr>
          <p:cNvSpPr txBox="1"/>
          <p:nvPr/>
        </p:nvSpPr>
        <p:spPr>
          <a:xfrm>
            <a:off x="6096000" y="502919"/>
            <a:ext cx="4107215" cy="461665"/>
          </a:xfrm>
          <a:prstGeom prst="rect">
            <a:avLst/>
          </a:prstGeom>
          <a:noFill/>
        </p:spPr>
        <p:txBody>
          <a:bodyPr wrap="none" rtlCol="0">
            <a:spAutoFit/>
          </a:bodyPr>
          <a:lstStyle/>
          <a:p>
            <a:r>
              <a:rPr lang="en-IN" sz="2400" dirty="0">
                <a:latin typeface="+mj-lt"/>
              </a:rPr>
              <a:t>Pseudo Arc-Length Continuation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83DBD71-5C30-780A-174C-1FDA4CFF54AB}"/>
                  </a:ext>
                </a:extLst>
              </p:cNvPr>
              <p:cNvSpPr txBox="1"/>
              <p:nvPr/>
            </p:nvSpPr>
            <p:spPr>
              <a:xfrm>
                <a:off x="312420" y="1225296"/>
                <a:ext cx="5783580" cy="369332"/>
              </a:xfrm>
              <a:prstGeom prst="rect">
                <a:avLst/>
              </a:prstGeom>
              <a:noFill/>
            </p:spPr>
            <p:txBody>
              <a:bodyPr wrap="square" rtlCol="0">
                <a:spAutoFit/>
              </a:bodyPr>
              <a:lstStyle/>
              <a:p>
                <a:r>
                  <a:rPr lang="en-IN" dirty="0"/>
                  <a:t>Step 1: We have a known solution of the system G(</a:t>
                </a:r>
                <a14:m>
                  <m:oMath xmlns:m="http://schemas.openxmlformats.org/officeDocument/2006/math">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u</m:t>
                        </m:r>
                      </m:e>
                      <m:sub>
                        <m:r>
                          <a:rPr lang="en-IN" b="0" i="1" smtClean="0">
                            <a:latin typeface="Cambria Math" panose="02040503050406030204" pitchFamily="18" charset="0"/>
                          </a:rPr>
                          <m:t>0</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λ</m:t>
                        </m:r>
                      </m:e>
                      <m:sub>
                        <m:r>
                          <a:rPr lang="en-IN" b="0" i="1" smtClean="0">
                            <a:latin typeface="Cambria Math" panose="02040503050406030204" pitchFamily="18" charset="0"/>
                          </a:rPr>
                          <m:t>0</m:t>
                        </m:r>
                      </m:sub>
                    </m:sSub>
                    <m:r>
                      <a:rPr lang="en-IN" b="0" i="1" smtClean="0">
                        <a:latin typeface="Cambria Math" panose="02040503050406030204" pitchFamily="18" charset="0"/>
                      </a:rPr>
                      <m:t>)</m:t>
                    </m:r>
                  </m:oMath>
                </a14:m>
                <a:endParaRPr lang="en-IN" dirty="0"/>
              </a:p>
            </p:txBody>
          </p:sp>
        </mc:Choice>
        <mc:Fallback xmlns="">
          <p:sp>
            <p:nvSpPr>
              <p:cNvPr id="4" name="TextBox 3">
                <a:extLst>
                  <a:ext uri="{FF2B5EF4-FFF2-40B4-BE49-F238E27FC236}">
                    <a16:creationId xmlns:a16="http://schemas.microsoft.com/office/drawing/2014/main" id="{A83DBD71-5C30-780A-174C-1FDA4CFF54AB}"/>
                  </a:ext>
                </a:extLst>
              </p:cNvPr>
              <p:cNvSpPr txBox="1">
                <a:spLocks noRot="1" noChangeAspect="1" noMove="1" noResize="1" noEditPoints="1" noAdjustHandles="1" noChangeArrowheads="1" noChangeShapeType="1" noTextEdit="1"/>
              </p:cNvSpPr>
              <p:nvPr/>
            </p:nvSpPr>
            <p:spPr>
              <a:xfrm>
                <a:off x="312420" y="1225296"/>
                <a:ext cx="5783580" cy="369332"/>
              </a:xfrm>
              <a:prstGeom prst="rect">
                <a:avLst/>
              </a:prstGeom>
              <a:blipFill>
                <a:blip r:embed="rId2"/>
                <a:stretch>
                  <a:fillRect l="-843" t="-6557" b="-2623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902D998-2F86-CCC6-EA35-7B69A56AD308}"/>
                  </a:ext>
                </a:extLst>
              </p:cNvPr>
              <p:cNvSpPr txBox="1"/>
              <p:nvPr/>
            </p:nvSpPr>
            <p:spPr>
              <a:xfrm>
                <a:off x="6096000" y="1225295"/>
                <a:ext cx="5783580" cy="369332"/>
              </a:xfrm>
              <a:prstGeom prst="rect">
                <a:avLst/>
              </a:prstGeom>
              <a:noFill/>
            </p:spPr>
            <p:txBody>
              <a:bodyPr wrap="square" rtlCol="0">
                <a:spAutoFit/>
              </a:bodyPr>
              <a:lstStyle/>
              <a:p>
                <a:r>
                  <a:rPr lang="en-IN" dirty="0"/>
                  <a:t>Step 1: We have a known solution of the system G(</a:t>
                </a:r>
                <a14:m>
                  <m:oMath xmlns:m="http://schemas.openxmlformats.org/officeDocument/2006/math">
                    <m:sSub>
                      <m:sSubPr>
                        <m:ctrlPr>
                          <a:rPr lang="en-IN" i="1">
                            <a:latin typeface="Cambria Math" panose="02040503050406030204" pitchFamily="18" charset="0"/>
                          </a:rPr>
                        </m:ctrlPr>
                      </m:sSubPr>
                      <m:e>
                        <m:r>
                          <m:rPr>
                            <m:sty m:val="p"/>
                          </m:rPr>
                          <a:rPr lang="en-IN" i="1">
                            <a:latin typeface="Cambria Math" panose="02040503050406030204" pitchFamily="18" charset="0"/>
                          </a:rPr>
                          <m:t>u</m:t>
                        </m:r>
                      </m:e>
                      <m:sub>
                        <m:r>
                          <a:rPr lang="en-IN" i="1">
                            <a:latin typeface="Cambria Math" panose="02040503050406030204" pitchFamily="18" charset="0"/>
                          </a:rPr>
                          <m:t>0</m:t>
                        </m:r>
                      </m:sub>
                    </m:sSub>
                    <m:r>
                      <a:rPr lang="en-IN" i="1">
                        <a:latin typeface="Cambria Math" panose="02040503050406030204" pitchFamily="18" charset="0"/>
                      </a:rPr>
                      <m:t>,</m:t>
                    </m:r>
                    <m:sSub>
                      <m:sSubPr>
                        <m:ctrlPr>
                          <a:rPr lang="en-IN" i="1">
                            <a:latin typeface="Cambria Math" panose="02040503050406030204" pitchFamily="18" charset="0"/>
                          </a:rPr>
                        </m:ctrlPr>
                      </m:sSubPr>
                      <m:e>
                        <m:r>
                          <m:rPr>
                            <m:sty m:val="p"/>
                          </m:rPr>
                          <a:rPr lang="en-IN" i="1">
                            <a:latin typeface="Cambria Math" panose="02040503050406030204" pitchFamily="18" charset="0"/>
                          </a:rPr>
                          <m:t>λ</m:t>
                        </m:r>
                      </m:e>
                      <m:sub>
                        <m:r>
                          <a:rPr lang="en-IN" i="1">
                            <a:latin typeface="Cambria Math" panose="02040503050406030204" pitchFamily="18" charset="0"/>
                          </a:rPr>
                          <m:t>0</m:t>
                        </m:r>
                      </m:sub>
                    </m:sSub>
                    <m:r>
                      <a:rPr lang="en-IN" i="1">
                        <a:latin typeface="Cambria Math" panose="02040503050406030204" pitchFamily="18" charset="0"/>
                      </a:rPr>
                      <m:t>)</m:t>
                    </m:r>
                  </m:oMath>
                </a14:m>
                <a:endParaRPr lang="en-IN" dirty="0"/>
              </a:p>
            </p:txBody>
          </p:sp>
        </mc:Choice>
        <mc:Fallback xmlns="">
          <p:sp>
            <p:nvSpPr>
              <p:cNvPr id="5" name="TextBox 4">
                <a:extLst>
                  <a:ext uri="{FF2B5EF4-FFF2-40B4-BE49-F238E27FC236}">
                    <a16:creationId xmlns:a16="http://schemas.microsoft.com/office/drawing/2014/main" id="{F902D998-2F86-CCC6-EA35-7B69A56AD308}"/>
                  </a:ext>
                </a:extLst>
              </p:cNvPr>
              <p:cNvSpPr txBox="1">
                <a:spLocks noRot="1" noChangeAspect="1" noMove="1" noResize="1" noEditPoints="1" noAdjustHandles="1" noChangeArrowheads="1" noChangeShapeType="1" noTextEdit="1"/>
              </p:cNvSpPr>
              <p:nvPr/>
            </p:nvSpPr>
            <p:spPr>
              <a:xfrm>
                <a:off x="6096000" y="1225295"/>
                <a:ext cx="5783580" cy="369332"/>
              </a:xfrm>
              <a:prstGeom prst="rect">
                <a:avLst/>
              </a:prstGeom>
              <a:blipFill>
                <a:blip r:embed="rId3"/>
                <a:stretch>
                  <a:fillRect l="-843" t="-6557" b="-2623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903EDDB-5FD2-8518-35CB-1DDD0D7DAB9C}"/>
                  </a:ext>
                </a:extLst>
              </p:cNvPr>
              <p:cNvSpPr txBox="1"/>
              <p:nvPr/>
            </p:nvSpPr>
            <p:spPr>
              <a:xfrm>
                <a:off x="312420" y="2039112"/>
                <a:ext cx="5783580" cy="1978875"/>
              </a:xfrm>
              <a:prstGeom prst="rect">
                <a:avLst/>
              </a:prstGeom>
              <a:noFill/>
            </p:spPr>
            <p:txBody>
              <a:bodyPr wrap="square" rtlCol="0">
                <a:spAutoFit/>
              </a:bodyPr>
              <a:lstStyle/>
              <a:p>
                <a:r>
                  <a:rPr lang="en-IN" dirty="0"/>
                  <a:t>Step 2: We compute a few important quantities, of which one of them is </a:t>
                </a:r>
                <a14:m>
                  <m:oMath xmlns:m="http://schemas.openxmlformats.org/officeDocument/2006/math">
                    <m:f>
                      <m:fPr>
                        <m:ctrlPr>
                          <a:rPr lang="en-IN" i="1" smtClean="0">
                            <a:latin typeface="Cambria Math" panose="02040503050406030204" pitchFamily="18" charset="0"/>
                            <a:ea typeface="Cambria Math" panose="02040503050406030204" pitchFamily="18" charset="0"/>
                          </a:rPr>
                        </m:ctrlPr>
                      </m:fPr>
                      <m:num>
                        <m:r>
                          <a:rPr lang="en-IN" i="1" smtClean="0">
                            <a:latin typeface="Cambria Math" panose="02040503050406030204" pitchFamily="18" charset="0"/>
                            <a:ea typeface="Cambria Math" panose="02040503050406030204" pitchFamily="18" charset="0"/>
                          </a:rPr>
                          <m:t>𝜕</m:t>
                        </m:r>
                        <m:r>
                          <m:rPr>
                            <m:sty m:val="p"/>
                          </m:rPr>
                          <a:rPr lang="en-IN" b="0" i="1" smtClean="0">
                            <a:latin typeface="Cambria Math" panose="02040503050406030204" pitchFamily="18" charset="0"/>
                            <a:ea typeface="Cambria Math" panose="02040503050406030204" pitchFamily="18" charset="0"/>
                          </a:rPr>
                          <m:t>u</m:t>
                        </m:r>
                      </m:num>
                      <m:den>
                        <m:r>
                          <a:rPr lang="en-IN" i="1" smtClean="0">
                            <a:latin typeface="Cambria Math" panose="02040503050406030204" pitchFamily="18" charset="0"/>
                            <a:ea typeface="Cambria Math" panose="02040503050406030204" pitchFamily="18" charset="0"/>
                          </a:rPr>
                          <m:t>𝜕</m:t>
                        </m:r>
                        <m:r>
                          <m:rPr>
                            <m:sty m:val="p"/>
                          </m:rPr>
                          <a:rPr lang="en-IN" b="0" i="1" smtClean="0">
                            <a:latin typeface="Cambria Math" panose="02040503050406030204" pitchFamily="18" charset="0"/>
                            <a:ea typeface="Cambria Math" panose="02040503050406030204" pitchFamily="18" charset="0"/>
                          </a:rPr>
                          <m:t>λ</m:t>
                        </m:r>
                      </m:den>
                    </m:f>
                  </m:oMath>
                </a14:m>
                <a:r>
                  <a:rPr lang="en-IN" dirty="0"/>
                  <a:t>. Following is the formula to calculate it</a:t>
                </a:r>
              </a:p>
              <a:p>
                <a:endParaRPr lang="en-IN" dirty="0"/>
              </a:p>
              <a:p>
                <a:r>
                  <a:rPr lang="en-IN" dirty="0"/>
                  <a:t> </a:t>
                </a:r>
                <a14:m>
                  <m:oMath xmlns:m="http://schemas.openxmlformats.org/officeDocument/2006/math">
                    <m:f>
                      <m:fPr>
                        <m:ctrlPr>
                          <a:rPr lang="en-IN" i="1">
                            <a:latin typeface="Cambria Math" panose="02040503050406030204" pitchFamily="18" charset="0"/>
                            <a:ea typeface="Cambria Math" panose="02040503050406030204" pitchFamily="18" charset="0"/>
                          </a:rPr>
                        </m:ctrlPr>
                      </m:fPr>
                      <m:num>
                        <m:r>
                          <a:rPr lang="en-IN" i="1">
                            <a:latin typeface="Cambria Math" panose="02040503050406030204" pitchFamily="18" charset="0"/>
                            <a:ea typeface="Cambria Math" panose="02040503050406030204" pitchFamily="18" charset="0"/>
                          </a:rPr>
                          <m:t>𝜕</m:t>
                        </m:r>
                        <m:r>
                          <m:rPr>
                            <m:sty m:val="p"/>
                          </m:rPr>
                          <a:rPr lang="en-IN" i="1">
                            <a:latin typeface="Cambria Math" panose="02040503050406030204" pitchFamily="18" charset="0"/>
                            <a:ea typeface="Cambria Math" panose="02040503050406030204" pitchFamily="18" charset="0"/>
                          </a:rPr>
                          <m:t>u</m:t>
                        </m:r>
                      </m:num>
                      <m:den>
                        <m:r>
                          <a:rPr lang="en-IN" i="1">
                            <a:latin typeface="Cambria Math" panose="02040503050406030204" pitchFamily="18" charset="0"/>
                            <a:ea typeface="Cambria Math" panose="02040503050406030204" pitchFamily="18" charset="0"/>
                          </a:rPr>
                          <m:t>𝜕</m:t>
                        </m:r>
                        <m:r>
                          <m:rPr>
                            <m:sty m:val="p"/>
                          </m:rPr>
                          <a:rPr lang="en-IN" i="1">
                            <a:latin typeface="Cambria Math" panose="02040503050406030204" pitchFamily="18" charset="0"/>
                            <a:ea typeface="Cambria Math" panose="02040503050406030204" pitchFamily="18" charset="0"/>
                          </a:rPr>
                          <m:t>λ</m:t>
                        </m:r>
                      </m:den>
                    </m:f>
                  </m:oMath>
                </a14:m>
                <a:r>
                  <a:rPr lang="en-IN" dirty="0"/>
                  <a:t>. = - </a:t>
                </a:r>
                <a14:m>
                  <m:oMath xmlns:m="http://schemas.openxmlformats.org/officeDocument/2006/math">
                    <m:f>
                      <m:fPr>
                        <m:ctrlPr>
                          <a:rPr lang="en-IN" i="1" smtClean="0">
                            <a:latin typeface="Cambria Math" panose="02040503050406030204" pitchFamily="18" charset="0"/>
                          </a:rPr>
                        </m:ctrlPr>
                      </m:fPr>
                      <m:num>
                        <m:f>
                          <m:fPr>
                            <m:ctrlPr>
                              <a:rPr lang="en-IN" i="1" smtClean="0">
                                <a:latin typeface="Cambria Math" panose="02040503050406030204" pitchFamily="18" charset="0"/>
                                <a:ea typeface="Cambria Math" panose="02040503050406030204" pitchFamily="18" charset="0"/>
                              </a:rPr>
                            </m:ctrlPr>
                          </m:fPr>
                          <m:num>
                            <m:r>
                              <a:rPr lang="en-IN" i="1" smtClean="0">
                                <a:latin typeface="Cambria Math" panose="02040503050406030204" pitchFamily="18" charset="0"/>
                                <a:ea typeface="Cambria Math" panose="02040503050406030204" pitchFamily="18" charset="0"/>
                              </a:rPr>
                              <m:t>𝜕</m:t>
                            </m:r>
                            <m:r>
                              <m:rPr>
                                <m:sty m:val="p"/>
                              </m:rPr>
                              <a:rPr lang="en-IN" b="0" i="1" smtClean="0">
                                <a:latin typeface="Cambria Math" panose="02040503050406030204" pitchFamily="18" charset="0"/>
                                <a:ea typeface="Cambria Math" panose="02040503050406030204" pitchFamily="18" charset="0"/>
                              </a:rPr>
                              <m:t>G</m:t>
                            </m:r>
                          </m:num>
                          <m:den>
                            <m:r>
                              <a:rPr lang="en-IN" i="1" smtClean="0">
                                <a:latin typeface="Cambria Math" panose="02040503050406030204" pitchFamily="18" charset="0"/>
                                <a:ea typeface="Cambria Math" panose="02040503050406030204" pitchFamily="18" charset="0"/>
                              </a:rPr>
                              <m:t>𝜕</m:t>
                            </m:r>
                            <m:r>
                              <m:rPr>
                                <m:sty m:val="p"/>
                              </m:rPr>
                              <a:rPr lang="en-IN" b="0" i="1" smtClean="0">
                                <a:latin typeface="Cambria Math" panose="02040503050406030204" pitchFamily="18" charset="0"/>
                                <a:ea typeface="Cambria Math" panose="02040503050406030204" pitchFamily="18" charset="0"/>
                              </a:rPr>
                              <m:t>λ</m:t>
                            </m:r>
                          </m:den>
                        </m:f>
                      </m:num>
                      <m:den>
                        <m:f>
                          <m:fPr>
                            <m:ctrlPr>
                              <a:rPr lang="en-IN" i="1" smtClean="0">
                                <a:latin typeface="Cambria Math" panose="02040503050406030204" pitchFamily="18" charset="0"/>
                                <a:ea typeface="Cambria Math" panose="02040503050406030204" pitchFamily="18" charset="0"/>
                              </a:rPr>
                            </m:ctrlPr>
                          </m:fPr>
                          <m:num>
                            <m:r>
                              <a:rPr lang="en-IN" i="1" smtClean="0">
                                <a:latin typeface="Cambria Math" panose="02040503050406030204" pitchFamily="18" charset="0"/>
                                <a:ea typeface="Cambria Math" panose="02040503050406030204" pitchFamily="18" charset="0"/>
                              </a:rPr>
                              <m:t>𝜕</m:t>
                            </m:r>
                            <m:r>
                              <m:rPr>
                                <m:sty m:val="p"/>
                              </m:rPr>
                              <a:rPr lang="en-IN" b="0" i="1" smtClean="0">
                                <a:latin typeface="Cambria Math" panose="02040503050406030204" pitchFamily="18" charset="0"/>
                                <a:ea typeface="Cambria Math" panose="02040503050406030204" pitchFamily="18" charset="0"/>
                              </a:rPr>
                              <m:t>G</m:t>
                            </m:r>
                          </m:num>
                          <m:den>
                            <m:r>
                              <a:rPr lang="en-IN" i="1" smtClean="0">
                                <a:latin typeface="Cambria Math" panose="02040503050406030204" pitchFamily="18" charset="0"/>
                                <a:ea typeface="Cambria Math" panose="02040503050406030204" pitchFamily="18" charset="0"/>
                              </a:rPr>
                              <m:t>𝜕</m:t>
                            </m:r>
                            <m:r>
                              <m:rPr>
                                <m:sty m:val="p"/>
                              </m:rPr>
                              <a:rPr lang="en-IN" b="0" i="1" smtClean="0">
                                <a:latin typeface="Cambria Math" panose="02040503050406030204" pitchFamily="18" charset="0"/>
                                <a:ea typeface="Cambria Math" panose="02040503050406030204" pitchFamily="18" charset="0"/>
                              </a:rPr>
                              <m:t>u</m:t>
                            </m:r>
                          </m:den>
                        </m:f>
                      </m:den>
                    </m:f>
                  </m:oMath>
                </a14:m>
                <a:endParaRPr lang="en-IN" dirty="0"/>
              </a:p>
              <a:p>
                <a:endParaRPr lang="en-IN" dirty="0"/>
              </a:p>
            </p:txBody>
          </p:sp>
        </mc:Choice>
        <mc:Fallback xmlns="">
          <p:sp>
            <p:nvSpPr>
              <p:cNvPr id="6" name="TextBox 5">
                <a:extLst>
                  <a:ext uri="{FF2B5EF4-FFF2-40B4-BE49-F238E27FC236}">
                    <a16:creationId xmlns:a16="http://schemas.microsoft.com/office/drawing/2014/main" id="{8903EDDB-5FD2-8518-35CB-1DDD0D7DAB9C}"/>
                  </a:ext>
                </a:extLst>
              </p:cNvPr>
              <p:cNvSpPr txBox="1">
                <a:spLocks noRot="1" noChangeAspect="1" noMove="1" noResize="1" noEditPoints="1" noAdjustHandles="1" noChangeArrowheads="1" noChangeShapeType="1" noTextEdit="1"/>
              </p:cNvSpPr>
              <p:nvPr/>
            </p:nvSpPr>
            <p:spPr>
              <a:xfrm>
                <a:off x="312420" y="2039112"/>
                <a:ext cx="5783580" cy="1978875"/>
              </a:xfrm>
              <a:prstGeom prst="rect">
                <a:avLst/>
              </a:prstGeom>
              <a:blipFill>
                <a:blip r:embed="rId4"/>
                <a:stretch>
                  <a:fillRect l="-843" t="-15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36BF659-01D8-0742-C727-40B33C67784E}"/>
                  </a:ext>
                </a:extLst>
              </p:cNvPr>
              <p:cNvSpPr txBox="1"/>
              <p:nvPr/>
            </p:nvSpPr>
            <p:spPr>
              <a:xfrm>
                <a:off x="6096000" y="2039111"/>
                <a:ext cx="5620512" cy="2386102"/>
              </a:xfrm>
              <a:prstGeom prst="rect">
                <a:avLst/>
              </a:prstGeom>
              <a:noFill/>
            </p:spPr>
            <p:txBody>
              <a:bodyPr wrap="square" rtlCol="0">
                <a:spAutoFit/>
              </a:bodyPr>
              <a:lstStyle/>
              <a:p>
                <a:r>
                  <a:rPr lang="en-IN" dirty="0"/>
                  <a:t>Step 2: We compute few important quantities, of which one of them is </a:t>
                </a:r>
                <a14:m>
                  <m:oMath xmlns:m="http://schemas.openxmlformats.org/officeDocument/2006/math">
                    <m:f>
                      <m:fPr>
                        <m:ctrlPr>
                          <a:rPr lang="en-IN" i="1" smtClean="0">
                            <a:latin typeface="Cambria Math" panose="02040503050406030204" pitchFamily="18" charset="0"/>
                            <a:ea typeface="Cambria Math" panose="02040503050406030204" pitchFamily="18" charset="0"/>
                          </a:rPr>
                        </m:ctrlPr>
                      </m:fPr>
                      <m:num>
                        <m:r>
                          <a:rPr lang="en-IN" i="1" smtClean="0">
                            <a:latin typeface="Cambria Math" panose="02040503050406030204" pitchFamily="18" charset="0"/>
                            <a:ea typeface="Cambria Math" panose="02040503050406030204" pitchFamily="18" charset="0"/>
                          </a:rPr>
                          <m:t>𝜕</m:t>
                        </m:r>
                        <m:r>
                          <m:rPr>
                            <m:sty m:val="p"/>
                          </m:rPr>
                          <a:rPr lang="en-IN" b="0" i="1" smtClean="0">
                            <a:latin typeface="Cambria Math" panose="02040503050406030204" pitchFamily="18" charset="0"/>
                            <a:ea typeface="Cambria Math" panose="02040503050406030204" pitchFamily="18" charset="0"/>
                          </a:rPr>
                          <m:t>u</m:t>
                        </m:r>
                      </m:num>
                      <m:den>
                        <m:r>
                          <a:rPr lang="en-IN" i="1" smtClean="0">
                            <a:latin typeface="Cambria Math" panose="02040503050406030204" pitchFamily="18" charset="0"/>
                            <a:ea typeface="Cambria Math" panose="02040503050406030204" pitchFamily="18" charset="0"/>
                          </a:rPr>
                          <m:t>𝜕</m:t>
                        </m:r>
                        <m:r>
                          <m:rPr>
                            <m:sty m:val="p"/>
                          </m:rPr>
                          <a:rPr lang="en-IN" b="0" i="1" smtClean="0">
                            <a:latin typeface="Cambria Math" panose="02040503050406030204" pitchFamily="18" charset="0"/>
                            <a:ea typeface="Cambria Math" panose="02040503050406030204" pitchFamily="18" charset="0"/>
                          </a:rPr>
                          <m:t>λ</m:t>
                        </m:r>
                      </m:den>
                    </m:f>
                  </m:oMath>
                </a14:m>
                <a:r>
                  <a:rPr lang="en-IN" dirty="0"/>
                  <a:t>. Following is the formula to calculate it</a:t>
                </a:r>
              </a:p>
              <a:p>
                <a:endParaRPr lang="en-IN" dirty="0"/>
              </a:p>
              <a:p>
                <a14:m>
                  <m:oMath xmlns:m="http://schemas.openxmlformats.org/officeDocument/2006/math">
                    <m:r>
                      <a:rPr lang="en-IN" i="1" smtClean="0">
                        <a:latin typeface="Cambria Math" panose="02040503050406030204" pitchFamily="18" charset="0"/>
                        <a:ea typeface="Cambria Math" panose="02040503050406030204" pitchFamily="18" charset="0"/>
                      </a:rPr>
                      <m:t>∅</m:t>
                    </m:r>
                  </m:oMath>
                </a14:m>
                <a:r>
                  <a:rPr lang="en-IN" dirty="0"/>
                  <a:t> = - </a:t>
                </a:r>
                <a14:m>
                  <m:oMath xmlns:m="http://schemas.openxmlformats.org/officeDocument/2006/math">
                    <m:f>
                      <m:fPr>
                        <m:ctrlPr>
                          <a:rPr lang="en-IN" i="1">
                            <a:latin typeface="Cambria Math" panose="02040503050406030204" pitchFamily="18" charset="0"/>
                          </a:rPr>
                        </m:ctrlPr>
                      </m:fPr>
                      <m:num>
                        <m:f>
                          <m:fPr>
                            <m:ctrlPr>
                              <a:rPr lang="en-IN" i="1">
                                <a:latin typeface="Cambria Math" panose="02040503050406030204" pitchFamily="18" charset="0"/>
                                <a:ea typeface="Cambria Math" panose="02040503050406030204" pitchFamily="18" charset="0"/>
                              </a:rPr>
                            </m:ctrlPr>
                          </m:fPr>
                          <m:num>
                            <m:r>
                              <a:rPr lang="en-IN" i="1">
                                <a:latin typeface="Cambria Math" panose="02040503050406030204" pitchFamily="18" charset="0"/>
                                <a:ea typeface="Cambria Math" panose="02040503050406030204" pitchFamily="18" charset="0"/>
                              </a:rPr>
                              <m:t>𝜕</m:t>
                            </m:r>
                            <m:r>
                              <m:rPr>
                                <m:sty m:val="p"/>
                              </m:rPr>
                              <a:rPr lang="en-IN" i="1">
                                <a:latin typeface="Cambria Math" panose="02040503050406030204" pitchFamily="18" charset="0"/>
                                <a:ea typeface="Cambria Math" panose="02040503050406030204" pitchFamily="18" charset="0"/>
                              </a:rPr>
                              <m:t>G</m:t>
                            </m:r>
                          </m:num>
                          <m:den>
                            <m:r>
                              <a:rPr lang="en-IN" i="1">
                                <a:latin typeface="Cambria Math" panose="02040503050406030204" pitchFamily="18" charset="0"/>
                                <a:ea typeface="Cambria Math" panose="02040503050406030204" pitchFamily="18" charset="0"/>
                              </a:rPr>
                              <m:t>𝜕</m:t>
                            </m:r>
                            <m:r>
                              <m:rPr>
                                <m:sty m:val="p"/>
                              </m:rPr>
                              <a:rPr lang="en-IN" i="1">
                                <a:latin typeface="Cambria Math" panose="02040503050406030204" pitchFamily="18" charset="0"/>
                                <a:ea typeface="Cambria Math" panose="02040503050406030204" pitchFamily="18" charset="0"/>
                              </a:rPr>
                              <m:t>λ</m:t>
                            </m:r>
                          </m:den>
                        </m:f>
                      </m:num>
                      <m:den>
                        <m:f>
                          <m:fPr>
                            <m:ctrlPr>
                              <a:rPr lang="en-IN" i="1">
                                <a:latin typeface="Cambria Math" panose="02040503050406030204" pitchFamily="18" charset="0"/>
                                <a:ea typeface="Cambria Math" panose="02040503050406030204" pitchFamily="18" charset="0"/>
                              </a:rPr>
                            </m:ctrlPr>
                          </m:fPr>
                          <m:num>
                            <m:r>
                              <a:rPr lang="en-IN" i="1">
                                <a:latin typeface="Cambria Math" panose="02040503050406030204" pitchFamily="18" charset="0"/>
                                <a:ea typeface="Cambria Math" panose="02040503050406030204" pitchFamily="18" charset="0"/>
                              </a:rPr>
                              <m:t>𝜕</m:t>
                            </m:r>
                            <m:r>
                              <m:rPr>
                                <m:sty m:val="p"/>
                              </m:rPr>
                              <a:rPr lang="en-IN" i="1">
                                <a:latin typeface="Cambria Math" panose="02040503050406030204" pitchFamily="18" charset="0"/>
                                <a:ea typeface="Cambria Math" panose="02040503050406030204" pitchFamily="18" charset="0"/>
                              </a:rPr>
                              <m:t>G</m:t>
                            </m:r>
                          </m:num>
                          <m:den>
                            <m:r>
                              <a:rPr lang="en-IN" i="1">
                                <a:latin typeface="Cambria Math" panose="02040503050406030204" pitchFamily="18" charset="0"/>
                                <a:ea typeface="Cambria Math" panose="02040503050406030204" pitchFamily="18" charset="0"/>
                              </a:rPr>
                              <m:t>𝜕</m:t>
                            </m:r>
                            <m:r>
                              <m:rPr>
                                <m:sty m:val="p"/>
                              </m:rPr>
                              <a:rPr lang="en-IN" i="1">
                                <a:latin typeface="Cambria Math" panose="02040503050406030204" pitchFamily="18" charset="0"/>
                                <a:ea typeface="Cambria Math" panose="02040503050406030204" pitchFamily="18" charset="0"/>
                              </a:rPr>
                              <m:t>u</m:t>
                            </m:r>
                          </m:den>
                        </m:f>
                      </m:den>
                    </m:f>
                  </m:oMath>
                </a14:m>
                <a:r>
                  <a:rPr lang="en-IN" dirty="0"/>
                  <a:t>     and     a = </a:t>
                </a:r>
                <a14:m>
                  <m:oMath xmlns:m="http://schemas.openxmlformats.org/officeDocument/2006/math">
                    <m:f>
                      <m:fPr>
                        <m:ctrlPr>
                          <a:rPr lang="en-IN" i="1" smtClean="0">
                            <a:latin typeface="Cambria Math" panose="02040503050406030204" pitchFamily="18" charset="0"/>
                            <a:ea typeface="Cambria Math" panose="02040503050406030204" pitchFamily="18" charset="0"/>
                          </a:rPr>
                        </m:ctrlPr>
                      </m:fPr>
                      <m:num>
                        <m:r>
                          <a:rPr lang="en-IN"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1</m:t>
                        </m:r>
                      </m:num>
                      <m:den>
                        <m:rad>
                          <m:radPr>
                            <m:degHide m:val="on"/>
                            <m:ctrlPr>
                              <a:rPr lang="en-IN" i="1" smtClean="0">
                                <a:latin typeface="Cambria Math" panose="02040503050406030204" pitchFamily="18" charset="0"/>
                              </a:rPr>
                            </m:ctrlPr>
                          </m:radPr>
                          <m:deg/>
                          <m:e>
                            <m:r>
                              <a:rPr lang="en-IN" b="0" i="1" smtClean="0">
                                <a:latin typeface="Cambria Math" panose="02040503050406030204" pitchFamily="18" charset="0"/>
                              </a:rPr>
                              <m:t>1 + </m:t>
                            </m:r>
                            <m:r>
                              <a:rPr lang="en-IN" b="0" i="1" smtClean="0">
                                <a:latin typeface="Cambria Math" panose="02040503050406030204" pitchFamily="18" charset="0"/>
                                <a:ea typeface="Cambria Math" panose="02040503050406030204" pitchFamily="18" charset="0"/>
                              </a:rPr>
                              <m:t>∅.∅</m:t>
                            </m:r>
                          </m:e>
                        </m:rad>
                      </m:den>
                    </m:f>
                  </m:oMath>
                </a14:m>
                <a:endParaRPr lang="en-IN" dirty="0"/>
              </a:p>
              <a:p>
                <a:r>
                  <a:rPr lang="en-IN" dirty="0"/>
                  <a:t>Where we let, </a:t>
                </a:r>
                <a14:m>
                  <m:oMath xmlns:m="http://schemas.openxmlformats.org/officeDocument/2006/math">
                    <m:f>
                      <m:fPr>
                        <m:ctrlPr>
                          <a:rPr lang="en-IN" i="1" smtClean="0">
                            <a:latin typeface="Cambria Math" panose="02040503050406030204" pitchFamily="18" charset="0"/>
                            <a:ea typeface="Cambria Math" panose="02040503050406030204" pitchFamily="18" charset="0"/>
                          </a:rPr>
                        </m:ctrlPr>
                      </m:fPr>
                      <m:num>
                        <m:r>
                          <a:rPr lang="en-IN" i="1" smtClean="0">
                            <a:latin typeface="Cambria Math" panose="02040503050406030204" pitchFamily="18" charset="0"/>
                            <a:ea typeface="Cambria Math" panose="02040503050406030204" pitchFamily="18" charset="0"/>
                          </a:rPr>
                          <m:t>𝜕</m:t>
                        </m:r>
                        <m:r>
                          <m:rPr>
                            <m:sty m:val="p"/>
                          </m:rPr>
                          <a:rPr lang="en-IN" b="0" i="1" smtClean="0">
                            <a:latin typeface="Cambria Math" panose="02040503050406030204" pitchFamily="18" charset="0"/>
                            <a:ea typeface="Cambria Math" panose="02040503050406030204" pitchFamily="18" charset="0"/>
                          </a:rPr>
                          <m:t>u</m:t>
                        </m:r>
                      </m:num>
                      <m:den>
                        <m:r>
                          <a:rPr lang="en-IN" i="1" smtClean="0">
                            <a:latin typeface="Cambria Math" panose="02040503050406030204" pitchFamily="18" charset="0"/>
                            <a:ea typeface="Cambria Math" panose="02040503050406030204" pitchFamily="18" charset="0"/>
                          </a:rPr>
                          <m:t>𝜕</m:t>
                        </m:r>
                        <m:r>
                          <m:rPr>
                            <m:sty m:val="p"/>
                          </m:rPr>
                          <a:rPr lang="en-IN" b="0" i="1" smtClean="0">
                            <a:latin typeface="Cambria Math" panose="02040503050406030204" pitchFamily="18" charset="0"/>
                            <a:ea typeface="Cambria Math" panose="02040503050406030204" pitchFamily="18" charset="0"/>
                          </a:rPr>
                          <m:t>s</m:t>
                        </m:r>
                      </m:den>
                    </m:f>
                    <m:r>
                      <a:rPr lang="en-IN" b="0" i="1" smtClean="0">
                        <a:latin typeface="Cambria Math" panose="02040503050406030204" pitchFamily="18" charset="0"/>
                      </a:rPr>
                      <m:t> = </m:t>
                    </m:r>
                    <m:r>
                      <a:rPr lang="en-IN" b="0" i="1" smtClean="0">
                        <a:latin typeface="Cambria Math" panose="02040503050406030204" pitchFamily="18" charset="0"/>
                      </a:rPr>
                      <m:t>𝑎</m:t>
                    </m:r>
                    <m:r>
                      <a:rPr lang="en-IN" b="0" i="1" smtClean="0">
                        <a:latin typeface="Cambria Math" panose="02040503050406030204" pitchFamily="18" charset="0"/>
                      </a:rPr>
                      <m:t>.∅ </m:t>
                    </m:r>
                  </m:oMath>
                </a14:m>
                <a:r>
                  <a:rPr lang="en-IN" b="0" dirty="0">
                    <a:ea typeface="Cambria Math" panose="02040503050406030204" pitchFamily="18" charset="0"/>
                  </a:rPr>
                  <a:t>  and  </a:t>
                </a:r>
                <a14:m>
                  <m:oMath xmlns:m="http://schemas.openxmlformats.org/officeDocument/2006/math">
                    <m:f>
                      <m:fPr>
                        <m:ctrlPr>
                          <a:rPr lang="en-IN" b="0" i="1" smtClean="0">
                            <a:latin typeface="Cambria Math" panose="02040503050406030204" pitchFamily="18" charset="0"/>
                            <a:ea typeface="Cambria Math" panose="02040503050406030204" pitchFamily="18" charset="0"/>
                          </a:rPr>
                        </m:ctrlPr>
                      </m:fPr>
                      <m:num>
                        <m:r>
                          <a:rPr lang="en-IN" b="0" i="1" smtClean="0">
                            <a:latin typeface="Cambria Math" panose="02040503050406030204" pitchFamily="18" charset="0"/>
                            <a:ea typeface="Cambria Math" panose="02040503050406030204" pitchFamily="18" charset="0"/>
                          </a:rPr>
                          <m:t>𝜕</m:t>
                        </m:r>
                        <m:r>
                          <m:rPr>
                            <m:sty m:val="p"/>
                          </m:rPr>
                          <a:rPr lang="en-IN" b="0" i="1" smtClean="0">
                            <a:latin typeface="Cambria Math" panose="02040503050406030204" pitchFamily="18" charset="0"/>
                            <a:ea typeface="Cambria Math" panose="02040503050406030204" pitchFamily="18" charset="0"/>
                          </a:rPr>
                          <m:t>λ</m:t>
                        </m:r>
                      </m:num>
                      <m:den>
                        <m:r>
                          <a:rPr lang="en-IN" b="0" i="1" smtClean="0">
                            <a:latin typeface="Cambria Math" panose="02040503050406030204" pitchFamily="18" charset="0"/>
                            <a:ea typeface="Cambria Math" panose="02040503050406030204" pitchFamily="18" charset="0"/>
                          </a:rPr>
                          <m:t>𝜕</m:t>
                        </m:r>
                        <m:r>
                          <m:rPr>
                            <m:sty m:val="p"/>
                          </m:rPr>
                          <a:rPr lang="en-IN" b="0" i="1" smtClean="0">
                            <a:latin typeface="Cambria Math" panose="02040503050406030204" pitchFamily="18" charset="0"/>
                            <a:ea typeface="Cambria Math" panose="02040503050406030204" pitchFamily="18" charset="0"/>
                          </a:rPr>
                          <m:t>s</m:t>
                        </m:r>
                      </m:den>
                    </m:f>
                  </m:oMath>
                </a14:m>
                <a:r>
                  <a:rPr lang="en-IN" b="0" dirty="0">
                    <a:ea typeface="Cambria Math" panose="02040503050406030204" pitchFamily="18" charset="0"/>
                  </a:rPr>
                  <a:t> = a</a:t>
                </a:r>
              </a:p>
              <a:p>
                <a:endParaRPr lang="en-IN" dirty="0"/>
              </a:p>
            </p:txBody>
          </p:sp>
        </mc:Choice>
        <mc:Fallback xmlns="">
          <p:sp>
            <p:nvSpPr>
              <p:cNvPr id="7" name="TextBox 6">
                <a:extLst>
                  <a:ext uri="{FF2B5EF4-FFF2-40B4-BE49-F238E27FC236}">
                    <a16:creationId xmlns:a16="http://schemas.microsoft.com/office/drawing/2014/main" id="{C36BF659-01D8-0742-C727-40B33C67784E}"/>
                  </a:ext>
                </a:extLst>
              </p:cNvPr>
              <p:cNvSpPr txBox="1">
                <a:spLocks noRot="1" noChangeAspect="1" noMove="1" noResize="1" noEditPoints="1" noAdjustHandles="1" noChangeArrowheads="1" noChangeShapeType="1" noTextEdit="1"/>
              </p:cNvSpPr>
              <p:nvPr/>
            </p:nvSpPr>
            <p:spPr>
              <a:xfrm>
                <a:off x="6096000" y="2039111"/>
                <a:ext cx="5620512" cy="2386102"/>
              </a:xfrm>
              <a:prstGeom prst="rect">
                <a:avLst/>
              </a:prstGeom>
              <a:blipFill>
                <a:blip r:embed="rId5"/>
                <a:stretch>
                  <a:fillRect l="-868" t="-102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2172D3B-BA51-2035-E1F0-0C9541075B57}"/>
                  </a:ext>
                </a:extLst>
              </p:cNvPr>
              <p:cNvSpPr txBox="1"/>
              <p:nvPr/>
            </p:nvSpPr>
            <p:spPr>
              <a:xfrm>
                <a:off x="312420" y="4462471"/>
                <a:ext cx="5783580" cy="1330557"/>
              </a:xfrm>
              <a:prstGeom prst="rect">
                <a:avLst/>
              </a:prstGeom>
              <a:noFill/>
            </p:spPr>
            <p:txBody>
              <a:bodyPr wrap="square" rtlCol="0">
                <a:spAutoFit/>
              </a:bodyPr>
              <a:lstStyle/>
              <a:p>
                <a:r>
                  <a:rPr lang="en-IN" dirty="0"/>
                  <a:t>Step 3: Now we compute the guesses using the following relations</a:t>
                </a:r>
              </a:p>
              <a:p>
                <a14:m>
                  <m:oMath xmlns:m="http://schemas.openxmlformats.org/officeDocument/2006/math">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u</m:t>
                        </m:r>
                      </m:e>
                      <m:sub>
                        <m:r>
                          <m:rPr>
                            <m:sty m:val="p"/>
                          </m:rPr>
                          <a:rPr lang="en-IN" b="0" i="1" smtClean="0">
                            <a:latin typeface="Cambria Math" panose="02040503050406030204" pitchFamily="18" charset="0"/>
                          </a:rPr>
                          <m:t>guess</m:t>
                        </m:r>
                      </m:sub>
                    </m:sSub>
                    <m:r>
                      <a:rPr lang="en-IN" b="0" i="1" smtClean="0">
                        <a:latin typeface="Cambria Math" panose="02040503050406030204" pitchFamily="18" charset="0"/>
                      </a:rPr>
                      <m:t> = </m:t>
                    </m:r>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u</m:t>
                        </m:r>
                      </m:e>
                      <m:sub>
                        <m:r>
                          <a:rPr lang="en-IN" b="0" i="1" smtClean="0">
                            <a:latin typeface="Cambria Math" panose="02040503050406030204" pitchFamily="18" charset="0"/>
                          </a:rPr>
                          <m:t>0</m:t>
                        </m:r>
                      </m:sub>
                    </m:sSub>
                    <m:r>
                      <a:rPr lang="en-IN" b="0" i="1" smtClean="0">
                        <a:latin typeface="Cambria Math" panose="02040503050406030204" pitchFamily="18" charset="0"/>
                      </a:rPr>
                      <m:t> + </m:t>
                    </m:r>
                    <m:r>
                      <m:rPr>
                        <m:sty m:val="p"/>
                      </m:rPr>
                      <a:rPr lang="en-IN" b="0" i="1" smtClean="0">
                        <a:latin typeface="Cambria Math" panose="02040503050406030204" pitchFamily="18" charset="0"/>
                      </a:rPr>
                      <m:t>dλ</m:t>
                    </m:r>
                    <m:f>
                      <m:fPr>
                        <m:ctrlPr>
                          <a:rPr lang="en-IN" b="0" i="1" smtClean="0">
                            <a:latin typeface="Cambria Math" panose="02040503050406030204" pitchFamily="18" charset="0"/>
                            <a:ea typeface="Cambria Math" panose="02040503050406030204" pitchFamily="18" charset="0"/>
                          </a:rPr>
                        </m:ctrlPr>
                      </m:fPr>
                      <m:num>
                        <m:r>
                          <a:rPr lang="en-IN" b="0" i="1" smtClean="0">
                            <a:latin typeface="Cambria Math" panose="02040503050406030204" pitchFamily="18" charset="0"/>
                            <a:ea typeface="Cambria Math" panose="02040503050406030204" pitchFamily="18" charset="0"/>
                          </a:rPr>
                          <m:t>𝜕</m:t>
                        </m:r>
                        <m:r>
                          <m:rPr>
                            <m:sty m:val="p"/>
                          </m:rPr>
                          <a:rPr lang="en-IN" b="0" i="1" smtClean="0">
                            <a:latin typeface="Cambria Math" panose="02040503050406030204" pitchFamily="18" charset="0"/>
                            <a:ea typeface="Cambria Math" panose="02040503050406030204" pitchFamily="18" charset="0"/>
                          </a:rPr>
                          <m:t>u</m:t>
                        </m:r>
                      </m:num>
                      <m:den>
                        <m:r>
                          <a:rPr lang="en-IN" b="0" i="1" smtClean="0">
                            <a:latin typeface="Cambria Math" panose="02040503050406030204" pitchFamily="18" charset="0"/>
                            <a:ea typeface="Cambria Math" panose="02040503050406030204" pitchFamily="18" charset="0"/>
                          </a:rPr>
                          <m:t>𝜕</m:t>
                        </m:r>
                        <m:r>
                          <m:rPr>
                            <m:sty m:val="p"/>
                          </m:rPr>
                          <a:rPr lang="en-IN" b="0" i="1" smtClean="0">
                            <a:latin typeface="Cambria Math" panose="02040503050406030204" pitchFamily="18" charset="0"/>
                            <a:ea typeface="Cambria Math" panose="02040503050406030204" pitchFamily="18" charset="0"/>
                          </a:rPr>
                          <m:t>λ</m:t>
                        </m:r>
                      </m:den>
                    </m:f>
                  </m:oMath>
                </a14:m>
                <a:r>
                  <a:rPr lang="en-IN" dirty="0"/>
                  <a:t>    ;   </a:t>
                </a:r>
                <a14:m>
                  <m:oMath xmlns:m="http://schemas.openxmlformats.org/officeDocument/2006/math">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λ</m:t>
                        </m:r>
                      </m:e>
                      <m:sub>
                        <m:r>
                          <m:rPr>
                            <m:sty m:val="p"/>
                          </m:rPr>
                          <a:rPr lang="en-IN" b="0" i="1" smtClean="0">
                            <a:latin typeface="Cambria Math" panose="02040503050406030204" pitchFamily="18" charset="0"/>
                          </a:rPr>
                          <m:t>next</m:t>
                        </m:r>
                      </m:sub>
                    </m:sSub>
                  </m:oMath>
                </a14:m>
                <a:r>
                  <a:rPr lang="en-IN" dirty="0"/>
                  <a:t> = </a:t>
                </a:r>
                <a14:m>
                  <m:oMath xmlns:m="http://schemas.openxmlformats.org/officeDocument/2006/math">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λ</m:t>
                        </m:r>
                      </m:e>
                      <m:sub>
                        <m:r>
                          <a:rPr lang="en-IN" b="0" i="1" smtClean="0">
                            <a:latin typeface="Cambria Math" panose="02040503050406030204" pitchFamily="18" charset="0"/>
                          </a:rPr>
                          <m:t>0</m:t>
                        </m:r>
                      </m:sub>
                    </m:sSub>
                    <m:r>
                      <a:rPr lang="en-IN" b="0" i="1" smtClean="0">
                        <a:latin typeface="Cambria Math" panose="02040503050406030204" pitchFamily="18" charset="0"/>
                      </a:rPr>
                      <m:t> + </m:t>
                    </m:r>
                    <m:r>
                      <m:rPr>
                        <m:sty m:val="p"/>
                      </m:rPr>
                      <a:rPr lang="en-IN" b="0" i="1" smtClean="0">
                        <a:latin typeface="Cambria Math" panose="02040503050406030204" pitchFamily="18" charset="0"/>
                      </a:rPr>
                      <m:t>dλ</m:t>
                    </m:r>
                  </m:oMath>
                </a14:m>
                <a:endParaRPr lang="en-IN" dirty="0"/>
              </a:p>
              <a:p>
                <a:endParaRPr lang="en-IN" dirty="0"/>
              </a:p>
            </p:txBody>
          </p:sp>
        </mc:Choice>
        <mc:Fallback xmlns="">
          <p:sp>
            <p:nvSpPr>
              <p:cNvPr id="8" name="TextBox 7">
                <a:extLst>
                  <a:ext uri="{FF2B5EF4-FFF2-40B4-BE49-F238E27FC236}">
                    <a16:creationId xmlns:a16="http://schemas.microsoft.com/office/drawing/2014/main" id="{B2172D3B-BA51-2035-E1F0-0C9541075B57}"/>
                  </a:ext>
                </a:extLst>
              </p:cNvPr>
              <p:cNvSpPr txBox="1">
                <a:spLocks noRot="1" noChangeAspect="1" noMove="1" noResize="1" noEditPoints="1" noAdjustHandles="1" noChangeArrowheads="1" noChangeShapeType="1" noTextEdit="1"/>
              </p:cNvSpPr>
              <p:nvPr/>
            </p:nvSpPr>
            <p:spPr>
              <a:xfrm>
                <a:off x="312420" y="4462471"/>
                <a:ext cx="5783580" cy="1330557"/>
              </a:xfrm>
              <a:prstGeom prst="rect">
                <a:avLst/>
              </a:prstGeom>
              <a:blipFill>
                <a:blip r:embed="rId6"/>
                <a:stretch>
                  <a:fillRect l="-843" t="-1835"/>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834EC91-36F6-DF2D-9BED-F657F0DAF159}"/>
                  </a:ext>
                </a:extLst>
              </p:cNvPr>
              <p:cNvSpPr txBox="1"/>
              <p:nvPr/>
            </p:nvSpPr>
            <p:spPr>
              <a:xfrm>
                <a:off x="6096000" y="4462471"/>
                <a:ext cx="5783580" cy="1188787"/>
              </a:xfrm>
              <a:prstGeom prst="rect">
                <a:avLst/>
              </a:prstGeom>
              <a:noFill/>
            </p:spPr>
            <p:txBody>
              <a:bodyPr wrap="square" rtlCol="0">
                <a:spAutoFit/>
              </a:bodyPr>
              <a:lstStyle/>
              <a:p>
                <a:r>
                  <a:rPr lang="en-IN" dirty="0"/>
                  <a:t>Step 3: Now we compute the guesses using the following relations</a:t>
                </a:r>
              </a:p>
              <a:p>
                <a:pPr/>
                <a14:m>
                  <m:oMathPara xmlns:m="http://schemas.openxmlformats.org/officeDocument/2006/math">
                    <m:oMath>
                      <m:sSub>
                        <m:sSubPr>
                          <m:ctrlPr>
                            <a:rPr lang="en-IN" b="0" i="1" smtClean="0">
                              <a:highlight>
                                <a:srgbClr val="00FF00"/>
                              </a:highlight>
                              <a:latin typeface="Cambria Math" panose="02040503050406030204" pitchFamily="18" charset="0"/>
                            </a:rPr>
                          </m:ctrlPr>
                        </m:sSubPr>
                        <m:e>
                          <m:r>
                            <m:rPr>
                              <m:sty m:val="p"/>
                            </m:rPr>
                            <a:rPr lang="en-IN" b="0" i="1" smtClean="0">
                              <a:highlight>
                                <a:srgbClr val="00FF00"/>
                              </a:highlight>
                              <a:latin typeface="Cambria Math" panose="02040503050406030204" pitchFamily="18" charset="0"/>
                            </a:rPr>
                            <m:t>u</m:t>
                          </m:r>
                        </m:e>
                        <m:sub>
                          <m:r>
                            <m:rPr>
                              <m:sty m:val="p"/>
                            </m:rPr>
                            <a:rPr lang="en-IN" b="0" i="1" smtClean="0">
                              <a:highlight>
                                <a:srgbClr val="00FF00"/>
                              </a:highlight>
                              <a:latin typeface="Cambria Math" panose="02040503050406030204" pitchFamily="18" charset="0"/>
                            </a:rPr>
                            <m:t>guess</m:t>
                          </m:r>
                        </m:sub>
                      </m:sSub>
                      <m:r>
                        <a:rPr lang="en-IN" b="0" i="1" smtClean="0">
                          <a:highlight>
                            <a:srgbClr val="00FF00"/>
                          </a:highlight>
                          <a:latin typeface="Cambria Math" panose="02040503050406030204" pitchFamily="18" charset="0"/>
                        </a:rPr>
                        <m:t> = </m:t>
                      </m:r>
                      <m:sSub>
                        <m:sSubPr>
                          <m:ctrlPr>
                            <a:rPr lang="en-IN" b="0" i="1" smtClean="0">
                              <a:highlight>
                                <a:srgbClr val="00FF00"/>
                              </a:highlight>
                              <a:latin typeface="Cambria Math" panose="02040503050406030204" pitchFamily="18" charset="0"/>
                            </a:rPr>
                          </m:ctrlPr>
                        </m:sSubPr>
                        <m:e>
                          <m:r>
                            <m:rPr>
                              <m:sty m:val="p"/>
                            </m:rPr>
                            <a:rPr lang="en-IN" b="0" i="1" smtClean="0">
                              <a:highlight>
                                <a:srgbClr val="00FF00"/>
                              </a:highlight>
                              <a:latin typeface="Cambria Math" panose="02040503050406030204" pitchFamily="18" charset="0"/>
                            </a:rPr>
                            <m:t>u</m:t>
                          </m:r>
                        </m:e>
                        <m:sub>
                          <m:r>
                            <a:rPr lang="en-IN" b="0" i="1" smtClean="0">
                              <a:highlight>
                                <a:srgbClr val="00FF00"/>
                              </a:highlight>
                              <a:latin typeface="Cambria Math" panose="02040503050406030204" pitchFamily="18" charset="0"/>
                            </a:rPr>
                            <m:t>0</m:t>
                          </m:r>
                        </m:sub>
                      </m:sSub>
                      <m:r>
                        <a:rPr lang="en-IN" b="0" i="1" smtClean="0">
                          <a:highlight>
                            <a:srgbClr val="00FF00"/>
                          </a:highlight>
                          <a:latin typeface="Cambria Math" panose="02040503050406030204" pitchFamily="18" charset="0"/>
                        </a:rPr>
                        <m:t> + </m:t>
                      </m:r>
                      <m:r>
                        <a:rPr lang="en-IN" b="0" i="1" smtClean="0">
                          <a:highlight>
                            <a:srgbClr val="00FF00"/>
                          </a:highlight>
                          <a:latin typeface="Cambria Math" panose="02040503050406030204" pitchFamily="18" charset="0"/>
                          <a:ea typeface="Cambria Math" panose="02040503050406030204" pitchFamily="18" charset="0"/>
                        </a:rPr>
                        <m:t>∆</m:t>
                      </m:r>
                      <m:r>
                        <m:rPr>
                          <m:sty m:val="p"/>
                        </m:rPr>
                        <a:rPr lang="en-IN" b="0" i="1" smtClean="0">
                          <a:highlight>
                            <a:srgbClr val="00FF00"/>
                          </a:highlight>
                          <a:latin typeface="Cambria Math" panose="02040503050406030204" pitchFamily="18" charset="0"/>
                          <a:ea typeface="Cambria Math" panose="02040503050406030204" pitchFamily="18" charset="0"/>
                        </a:rPr>
                        <m:t>s</m:t>
                      </m:r>
                      <m:f>
                        <m:fPr>
                          <m:ctrlPr>
                            <a:rPr lang="en-IN" b="0" i="1" smtClean="0">
                              <a:highlight>
                                <a:srgbClr val="00FF00"/>
                              </a:highlight>
                              <a:latin typeface="Cambria Math" panose="02040503050406030204" pitchFamily="18" charset="0"/>
                              <a:ea typeface="Cambria Math" panose="02040503050406030204" pitchFamily="18" charset="0"/>
                            </a:rPr>
                          </m:ctrlPr>
                        </m:fPr>
                        <m:num>
                          <m:r>
                            <a:rPr lang="en-IN" b="0" i="1" smtClean="0">
                              <a:highlight>
                                <a:srgbClr val="00FF00"/>
                              </a:highlight>
                              <a:latin typeface="Cambria Math" panose="02040503050406030204" pitchFamily="18" charset="0"/>
                              <a:ea typeface="Cambria Math" panose="02040503050406030204" pitchFamily="18" charset="0"/>
                            </a:rPr>
                            <m:t>𝜕</m:t>
                          </m:r>
                          <m:r>
                            <m:rPr>
                              <m:sty m:val="p"/>
                            </m:rPr>
                            <a:rPr lang="en-IN" b="0" i="1" smtClean="0">
                              <a:highlight>
                                <a:srgbClr val="00FF00"/>
                              </a:highlight>
                              <a:latin typeface="Cambria Math" panose="02040503050406030204" pitchFamily="18" charset="0"/>
                              <a:ea typeface="Cambria Math" panose="02040503050406030204" pitchFamily="18" charset="0"/>
                            </a:rPr>
                            <m:t>u</m:t>
                          </m:r>
                        </m:num>
                        <m:den>
                          <m:r>
                            <a:rPr lang="en-IN" b="0" i="1" smtClean="0">
                              <a:highlight>
                                <a:srgbClr val="00FF00"/>
                              </a:highlight>
                              <a:latin typeface="Cambria Math" panose="02040503050406030204" pitchFamily="18" charset="0"/>
                              <a:ea typeface="Cambria Math" panose="02040503050406030204" pitchFamily="18" charset="0"/>
                            </a:rPr>
                            <m:t>𝜕</m:t>
                          </m:r>
                          <m:r>
                            <m:rPr>
                              <m:sty m:val="p"/>
                            </m:rPr>
                            <a:rPr lang="en-IN" b="0" i="1" smtClean="0">
                              <a:highlight>
                                <a:srgbClr val="00FF00"/>
                              </a:highlight>
                              <a:latin typeface="Cambria Math" panose="02040503050406030204" pitchFamily="18" charset="0"/>
                              <a:ea typeface="Cambria Math" panose="02040503050406030204" pitchFamily="18" charset="0"/>
                            </a:rPr>
                            <m:t>s</m:t>
                          </m:r>
                        </m:den>
                      </m:f>
                      <m:sSub>
                        <m:sSubPr>
                          <m:ctrlPr>
                            <a:rPr lang="en-IN" b="0" i="1" smtClean="0">
                              <a:highlight>
                                <a:srgbClr val="00FF00"/>
                              </a:highlight>
                              <a:latin typeface="Cambria Math" panose="02040503050406030204" pitchFamily="18" charset="0"/>
                            </a:rPr>
                          </m:ctrlPr>
                        </m:sSubPr>
                        <m:e>
                          <m:r>
                            <a:rPr lang="en-IN" b="0" i="1" smtClean="0">
                              <a:highlight>
                                <a:srgbClr val="00FF00"/>
                              </a:highlight>
                              <a:latin typeface="Cambria Math" panose="02040503050406030204" pitchFamily="18" charset="0"/>
                            </a:rPr>
                            <m:t>|</m:t>
                          </m:r>
                        </m:e>
                        <m:sub>
                          <m:r>
                            <a:rPr lang="en-IN" b="0" i="1" smtClean="0">
                              <a:highlight>
                                <a:srgbClr val="00FF00"/>
                              </a:highlight>
                              <a:latin typeface="Cambria Math" panose="02040503050406030204" pitchFamily="18" charset="0"/>
                            </a:rPr>
                            <m:t>0</m:t>
                          </m:r>
                        </m:sub>
                      </m:sSub>
                      <m:r>
                        <a:rPr lang="en-IN" b="0" i="1" smtClean="0">
                          <a:highlight>
                            <a:srgbClr val="00FF00"/>
                          </a:highlight>
                          <a:latin typeface="Cambria Math" panose="02040503050406030204" pitchFamily="18" charset="0"/>
                        </a:rPr>
                        <m:t>  ;   </m:t>
                      </m:r>
                      <m:sSub>
                        <m:sSubPr>
                          <m:ctrlPr>
                            <a:rPr lang="en-IN" b="0" i="1" smtClean="0">
                              <a:highlight>
                                <a:srgbClr val="00FF00"/>
                              </a:highlight>
                              <a:latin typeface="Cambria Math" panose="02040503050406030204" pitchFamily="18" charset="0"/>
                            </a:rPr>
                          </m:ctrlPr>
                        </m:sSubPr>
                        <m:e>
                          <m:r>
                            <m:rPr>
                              <m:sty m:val="p"/>
                            </m:rPr>
                            <a:rPr lang="en-IN" b="0" i="1" smtClean="0">
                              <a:highlight>
                                <a:srgbClr val="00FF00"/>
                              </a:highlight>
                              <a:latin typeface="Cambria Math" panose="02040503050406030204" pitchFamily="18" charset="0"/>
                            </a:rPr>
                            <m:t>λ</m:t>
                          </m:r>
                        </m:e>
                        <m:sub>
                          <m:r>
                            <m:rPr>
                              <m:sty m:val="p"/>
                            </m:rPr>
                            <a:rPr lang="en-IN" b="0" i="1" smtClean="0">
                              <a:highlight>
                                <a:srgbClr val="00FF00"/>
                              </a:highlight>
                              <a:latin typeface="Cambria Math" panose="02040503050406030204" pitchFamily="18" charset="0"/>
                            </a:rPr>
                            <m:t>guess</m:t>
                          </m:r>
                        </m:sub>
                      </m:sSub>
                      <m:r>
                        <a:rPr lang="en-IN" b="0" i="1" smtClean="0">
                          <a:highlight>
                            <a:srgbClr val="00FF00"/>
                          </a:highlight>
                          <a:latin typeface="Cambria Math" panose="02040503050406030204" pitchFamily="18" charset="0"/>
                        </a:rPr>
                        <m:t> = </m:t>
                      </m:r>
                      <m:sSub>
                        <m:sSubPr>
                          <m:ctrlPr>
                            <a:rPr lang="en-IN" b="0" i="1" smtClean="0">
                              <a:highlight>
                                <a:srgbClr val="00FF00"/>
                              </a:highlight>
                              <a:latin typeface="Cambria Math" panose="02040503050406030204" pitchFamily="18" charset="0"/>
                            </a:rPr>
                          </m:ctrlPr>
                        </m:sSubPr>
                        <m:e>
                          <m:r>
                            <m:rPr>
                              <m:sty m:val="p"/>
                            </m:rPr>
                            <a:rPr lang="en-IN" b="0" i="1" smtClean="0">
                              <a:highlight>
                                <a:srgbClr val="00FF00"/>
                              </a:highlight>
                              <a:latin typeface="Cambria Math" panose="02040503050406030204" pitchFamily="18" charset="0"/>
                            </a:rPr>
                            <m:t>λ</m:t>
                          </m:r>
                        </m:e>
                        <m:sub>
                          <m:r>
                            <a:rPr lang="en-IN" b="0" i="1" smtClean="0">
                              <a:highlight>
                                <a:srgbClr val="00FF00"/>
                              </a:highlight>
                              <a:latin typeface="Cambria Math" panose="02040503050406030204" pitchFamily="18" charset="0"/>
                            </a:rPr>
                            <m:t>0</m:t>
                          </m:r>
                        </m:sub>
                      </m:sSub>
                      <m:r>
                        <a:rPr lang="en-IN" b="0" i="1" smtClean="0">
                          <a:highlight>
                            <a:srgbClr val="00FF00"/>
                          </a:highlight>
                          <a:latin typeface="Cambria Math" panose="02040503050406030204" pitchFamily="18" charset="0"/>
                        </a:rPr>
                        <m:t> + </m:t>
                      </m:r>
                      <m:r>
                        <a:rPr lang="en-IN" b="0" i="1" smtClean="0">
                          <a:highlight>
                            <a:srgbClr val="00FF00"/>
                          </a:highlight>
                          <a:latin typeface="Cambria Math" panose="02040503050406030204" pitchFamily="18" charset="0"/>
                          <a:ea typeface="Cambria Math" panose="02040503050406030204" pitchFamily="18" charset="0"/>
                        </a:rPr>
                        <m:t>∆</m:t>
                      </m:r>
                      <m:r>
                        <m:rPr>
                          <m:sty m:val="p"/>
                        </m:rPr>
                        <a:rPr lang="en-IN" b="0" i="1" smtClean="0">
                          <a:highlight>
                            <a:srgbClr val="00FF00"/>
                          </a:highlight>
                          <a:latin typeface="Cambria Math" panose="02040503050406030204" pitchFamily="18" charset="0"/>
                          <a:ea typeface="Cambria Math" panose="02040503050406030204" pitchFamily="18" charset="0"/>
                        </a:rPr>
                        <m:t>s</m:t>
                      </m:r>
                      <m:f>
                        <m:fPr>
                          <m:ctrlPr>
                            <a:rPr lang="en-IN" b="0" i="1" smtClean="0">
                              <a:highlight>
                                <a:srgbClr val="00FF00"/>
                              </a:highlight>
                              <a:latin typeface="Cambria Math" panose="02040503050406030204" pitchFamily="18" charset="0"/>
                              <a:ea typeface="Cambria Math" panose="02040503050406030204" pitchFamily="18" charset="0"/>
                            </a:rPr>
                          </m:ctrlPr>
                        </m:fPr>
                        <m:num>
                          <m:r>
                            <a:rPr lang="en-IN" b="0" i="1" smtClean="0">
                              <a:highlight>
                                <a:srgbClr val="00FF00"/>
                              </a:highlight>
                              <a:latin typeface="Cambria Math" panose="02040503050406030204" pitchFamily="18" charset="0"/>
                              <a:ea typeface="Cambria Math" panose="02040503050406030204" pitchFamily="18" charset="0"/>
                            </a:rPr>
                            <m:t>𝜕</m:t>
                          </m:r>
                          <m:r>
                            <m:rPr>
                              <m:sty m:val="p"/>
                            </m:rPr>
                            <a:rPr lang="en-IN" b="0" i="1" smtClean="0">
                              <a:highlight>
                                <a:srgbClr val="00FF00"/>
                              </a:highlight>
                              <a:latin typeface="Cambria Math" panose="02040503050406030204" pitchFamily="18" charset="0"/>
                              <a:ea typeface="Cambria Math" panose="02040503050406030204" pitchFamily="18" charset="0"/>
                            </a:rPr>
                            <m:t>λ</m:t>
                          </m:r>
                        </m:num>
                        <m:den>
                          <m:r>
                            <a:rPr lang="en-IN" i="1">
                              <a:highlight>
                                <a:srgbClr val="00FF00"/>
                              </a:highlight>
                              <a:latin typeface="Cambria Math" panose="02040503050406030204" pitchFamily="18" charset="0"/>
                              <a:ea typeface="Cambria Math" panose="02040503050406030204" pitchFamily="18" charset="0"/>
                            </a:rPr>
                            <m:t>𝜕</m:t>
                          </m:r>
                          <m:r>
                            <m:rPr>
                              <m:sty m:val="p"/>
                            </m:rPr>
                            <a:rPr lang="en-IN" b="0" i="1" smtClean="0">
                              <a:highlight>
                                <a:srgbClr val="00FF00"/>
                              </a:highlight>
                              <a:latin typeface="Cambria Math" panose="02040503050406030204" pitchFamily="18" charset="0"/>
                              <a:ea typeface="Cambria Math" panose="02040503050406030204" pitchFamily="18" charset="0"/>
                            </a:rPr>
                            <m:t>s</m:t>
                          </m:r>
                        </m:den>
                      </m:f>
                      <m:sSub>
                        <m:sSubPr>
                          <m:ctrlPr>
                            <a:rPr lang="en-IN" b="0" i="1" smtClean="0">
                              <a:highlight>
                                <a:srgbClr val="00FF00"/>
                              </a:highlight>
                              <a:latin typeface="Cambria Math" panose="02040503050406030204" pitchFamily="18" charset="0"/>
                            </a:rPr>
                          </m:ctrlPr>
                        </m:sSubPr>
                        <m:e>
                          <m:r>
                            <a:rPr lang="en-IN" b="0" i="1" smtClean="0">
                              <a:highlight>
                                <a:srgbClr val="00FF00"/>
                              </a:highlight>
                              <a:latin typeface="Cambria Math" panose="02040503050406030204" pitchFamily="18" charset="0"/>
                            </a:rPr>
                            <m:t>|</m:t>
                          </m:r>
                        </m:e>
                        <m:sub>
                          <m:r>
                            <a:rPr lang="en-IN" b="0" i="1" smtClean="0">
                              <a:highlight>
                                <a:srgbClr val="00FF00"/>
                              </a:highlight>
                              <a:latin typeface="Cambria Math" panose="02040503050406030204" pitchFamily="18" charset="0"/>
                            </a:rPr>
                            <m:t>0</m:t>
                          </m:r>
                        </m:sub>
                      </m:sSub>
                    </m:oMath>
                  </m:oMathPara>
                </a14:m>
                <a:endParaRPr lang="en-IN" dirty="0">
                  <a:highlight>
                    <a:srgbClr val="00FF00"/>
                  </a:highlight>
                </a:endParaRPr>
              </a:p>
            </p:txBody>
          </p:sp>
        </mc:Choice>
        <mc:Fallback>
          <p:sp>
            <p:nvSpPr>
              <p:cNvPr id="9" name="TextBox 8">
                <a:extLst>
                  <a:ext uri="{FF2B5EF4-FFF2-40B4-BE49-F238E27FC236}">
                    <a16:creationId xmlns:a16="http://schemas.microsoft.com/office/drawing/2014/main" id="{6834EC91-36F6-DF2D-9BED-F657F0DAF159}"/>
                  </a:ext>
                </a:extLst>
              </p:cNvPr>
              <p:cNvSpPr txBox="1">
                <a:spLocks noRot="1" noChangeAspect="1" noMove="1" noResize="1" noEditPoints="1" noAdjustHandles="1" noChangeArrowheads="1" noChangeShapeType="1" noTextEdit="1"/>
              </p:cNvSpPr>
              <p:nvPr/>
            </p:nvSpPr>
            <p:spPr>
              <a:xfrm>
                <a:off x="6096000" y="4462471"/>
                <a:ext cx="5783580" cy="1188787"/>
              </a:xfrm>
              <a:prstGeom prst="rect">
                <a:avLst/>
              </a:prstGeom>
              <a:blipFill>
                <a:blip r:embed="rId7"/>
                <a:stretch>
                  <a:fillRect l="-843" t="-2051"/>
                </a:stretch>
              </a:blipFill>
            </p:spPr>
            <p:txBody>
              <a:bodyPr/>
              <a:lstStyle/>
              <a:p>
                <a:r>
                  <a:rPr lang="en-IN">
                    <a:noFill/>
                  </a:rPr>
                  <a:t> </a:t>
                </a:r>
              </a:p>
            </p:txBody>
          </p:sp>
        </mc:Fallback>
      </mc:AlternateContent>
    </p:spTree>
    <p:extLst>
      <p:ext uri="{BB962C8B-B14F-4D97-AF65-F5344CB8AC3E}">
        <p14:creationId xmlns:p14="http://schemas.microsoft.com/office/powerpoint/2010/main" val="1384857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6177E9-6E75-2718-FE95-D8ED4087D46C}"/>
              </a:ext>
            </a:extLst>
          </p:cNvPr>
          <p:cNvPicPr>
            <a:picLocks noChangeAspect="1"/>
          </p:cNvPicPr>
          <p:nvPr/>
        </p:nvPicPr>
        <p:blipFill>
          <a:blip r:embed="rId2"/>
          <a:stretch>
            <a:fillRect/>
          </a:stretch>
        </p:blipFill>
        <p:spPr>
          <a:xfrm>
            <a:off x="513588" y="1014767"/>
            <a:ext cx="5135880" cy="3267283"/>
          </a:xfrm>
          <a:prstGeom prst="rect">
            <a:avLst/>
          </a:prstGeom>
        </p:spPr>
      </p:pic>
      <p:sp>
        <p:nvSpPr>
          <p:cNvPr id="6" name="TextBox 5">
            <a:extLst>
              <a:ext uri="{FF2B5EF4-FFF2-40B4-BE49-F238E27FC236}">
                <a16:creationId xmlns:a16="http://schemas.microsoft.com/office/drawing/2014/main" id="{DEB96E91-0A97-30D2-EE8E-F40E1A0BE11D}"/>
              </a:ext>
            </a:extLst>
          </p:cNvPr>
          <p:cNvSpPr txBox="1"/>
          <p:nvPr/>
        </p:nvSpPr>
        <p:spPr>
          <a:xfrm>
            <a:off x="312420" y="335310"/>
            <a:ext cx="5783580" cy="461665"/>
          </a:xfrm>
          <a:prstGeom prst="rect">
            <a:avLst/>
          </a:prstGeom>
          <a:noFill/>
        </p:spPr>
        <p:txBody>
          <a:bodyPr wrap="square" rtlCol="0">
            <a:spAutoFit/>
          </a:bodyPr>
          <a:lstStyle/>
          <a:p>
            <a:r>
              <a:rPr lang="en-IN" sz="2400" dirty="0">
                <a:latin typeface="+mj-lt"/>
              </a:rPr>
              <a:t>Parameter Continuation</a:t>
            </a:r>
          </a:p>
        </p:txBody>
      </p:sp>
      <p:sp>
        <p:nvSpPr>
          <p:cNvPr id="7" name="TextBox 6">
            <a:extLst>
              <a:ext uri="{FF2B5EF4-FFF2-40B4-BE49-F238E27FC236}">
                <a16:creationId xmlns:a16="http://schemas.microsoft.com/office/drawing/2014/main" id="{43D71F20-D3A7-60CA-0491-1743D6E9C06A}"/>
              </a:ext>
            </a:extLst>
          </p:cNvPr>
          <p:cNvSpPr txBox="1"/>
          <p:nvPr/>
        </p:nvSpPr>
        <p:spPr>
          <a:xfrm>
            <a:off x="6096000" y="335309"/>
            <a:ext cx="4107215" cy="461665"/>
          </a:xfrm>
          <a:prstGeom prst="rect">
            <a:avLst/>
          </a:prstGeom>
          <a:noFill/>
        </p:spPr>
        <p:txBody>
          <a:bodyPr wrap="none" rtlCol="0">
            <a:spAutoFit/>
          </a:bodyPr>
          <a:lstStyle/>
          <a:p>
            <a:r>
              <a:rPr lang="en-IN" sz="2400" dirty="0">
                <a:latin typeface="+mj-lt"/>
              </a:rPr>
              <a:t>Pseudo Arc-Length Continuation</a:t>
            </a:r>
          </a:p>
        </p:txBody>
      </p:sp>
      <p:sp>
        <p:nvSpPr>
          <p:cNvPr id="8" name="TextBox 7">
            <a:extLst>
              <a:ext uri="{FF2B5EF4-FFF2-40B4-BE49-F238E27FC236}">
                <a16:creationId xmlns:a16="http://schemas.microsoft.com/office/drawing/2014/main" id="{557F06E2-D1DF-277E-2B80-1BEC66CBFF88}"/>
              </a:ext>
            </a:extLst>
          </p:cNvPr>
          <p:cNvSpPr txBox="1"/>
          <p:nvPr/>
        </p:nvSpPr>
        <p:spPr>
          <a:xfrm>
            <a:off x="6096000" y="829563"/>
            <a:ext cx="5381244" cy="369332"/>
          </a:xfrm>
          <a:prstGeom prst="rect">
            <a:avLst/>
          </a:prstGeom>
          <a:noFill/>
        </p:spPr>
        <p:txBody>
          <a:bodyPr wrap="square" rtlCol="0">
            <a:spAutoFit/>
          </a:bodyPr>
          <a:lstStyle/>
          <a:p>
            <a:r>
              <a:rPr lang="en-IN" dirty="0"/>
              <a:t>Step 4: Graphical Representation</a:t>
            </a:r>
          </a:p>
        </p:txBody>
      </p:sp>
      <p:sp>
        <p:nvSpPr>
          <p:cNvPr id="10" name="TextBox 9">
            <a:extLst>
              <a:ext uri="{FF2B5EF4-FFF2-40B4-BE49-F238E27FC236}">
                <a16:creationId xmlns:a16="http://schemas.microsoft.com/office/drawing/2014/main" id="{49F79025-5DDD-FB2F-7BF2-8DA22417A9D2}"/>
              </a:ext>
            </a:extLst>
          </p:cNvPr>
          <p:cNvSpPr txBox="1"/>
          <p:nvPr/>
        </p:nvSpPr>
        <p:spPr>
          <a:xfrm>
            <a:off x="513588" y="829563"/>
            <a:ext cx="5381244" cy="369332"/>
          </a:xfrm>
          <a:prstGeom prst="rect">
            <a:avLst/>
          </a:prstGeom>
          <a:noFill/>
        </p:spPr>
        <p:txBody>
          <a:bodyPr wrap="square" rtlCol="0">
            <a:spAutoFit/>
          </a:bodyPr>
          <a:lstStyle/>
          <a:p>
            <a:r>
              <a:rPr lang="en-IN" dirty="0"/>
              <a:t>Step 4: Graphical Representation</a:t>
            </a:r>
          </a:p>
        </p:txBody>
      </p:sp>
      <p:pic>
        <p:nvPicPr>
          <p:cNvPr id="12" name="Picture 11">
            <a:extLst>
              <a:ext uri="{FF2B5EF4-FFF2-40B4-BE49-F238E27FC236}">
                <a16:creationId xmlns:a16="http://schemas.microsoft.com/office/drawing/2014/main" id="{10288144-2E41-A5B0-FAC7-5E620299982D}"/>
              </a:ext>
            </a:extLst>
          </p:cNvPr>
          <p:cNvPicPr>
            <a:picLocks noChangeAspect="1"/>
          </p:cNvPicPr>
          <p:nvPr/>
        </p:nvPicPr>
        <p:blipFill>
          <a:blip r:embed="rId3"/>
          <a:stretch>
            <a:fillRect/>
          </a:stretch>
        </p:blipFill>
        <p:spPr>
          <a:xfrm>
            <a:off x="6172869" y="1198895"/>
            <a:ext cx="4891278" cy="3083155"/>
          </a:xfrm>
          <a:prstGeom prst="rect">
            <a:avLst/>
          </a:prstGeom>
        </p:spPr>
      </p:pic>
      <p:sp>
        <p:nvSpPr>
          <p:cNvPr id="13" name="TextBox 12">
            <a:extLst>
              <a:ext uri="{FF2B5EF4-FFF2-40B4-BE49-F238E27FC236}">
                <a16:creationId xmlns:a16="http://schemas.microsoft.com/office/drawing/2014/main" id="{4B35D0AC-505F-743D-9F52-E1D5DBE91DD0}"/>
              </a:ext>
            </a:extLst>
          </p:cNvPr>
          <p:cNvSpPr txBox="1"/>
          <p:nvPr/>
        </p:nvSpPr>
        <p:spPr>
          <a:xfrm>
            <a:off x="557784" y="4433721"/>
            <a:ext cx="5538216" cy="646331"/>
          </a:xfrm>
          <a:prstGeom prst="rect">
            <a:avLst/>
          </a:prstGeom>
          <a:noFill/>
        </p:spPr>
        <p:txBody>
          <a:bodyPr wrap="square" rtlCol="0">
            <a:spAutoFit/>
          </a:bodyPr>
          <a:lstStyle/>
          <a:p>
            <a:r>
              <a:rPr lang="en-IN" dirty="0"/>
              <a:t>Step 5: Linear solve for the new values using </a:t>
            </a:r>
            <a:r>
              <a:rPr lang="en-IN" dirty="0" err="1"/>
              <a:t>findroot</a:t>
            </a:r>
            <a:r>
              <a:rPr lang="en-IN" dirty="0"/>
              <a:t>. It is Newton-Raphson in the background.</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85653C4E-56B2-AA0D-8C1C-82C6772D67A9}"/>
                  </a:ext>
                </a:extLst>
              </p:cNvPr>
              <p:cNvSpPr txBox="1"/>
              <p:nvPr/>
            </p:nvSpPr>
            <p:spPr>
              <a:xfrm>
                <a:off x="6096000" y="4433720"/>
                <a:ext cx="5538216" cy="1450012"/>
              </a:xfrm>
              <a:prstGeom prst="rect">
                <a:avLst/>
              </a:prstGeom>
              <a:noFill/>
            </p:spPr>
            <p:txBody>
              <a:bodyPr wrap="square" rtlCol="0">
                <a:spAutoFit/>
              </a:bodyPr>
              <a:lstStyle/>
              <a:p>
                <a:r>
                  <a:rPr lang="en-IN" dirty="0"/>
                  <a:t>Step 5: Linear solve for the new values and the PALC constraint using </a:t>
                </a:r>
                <a:r>
                  <a:rPr lang="en-IN" dirty="0" err="1"/>
                  <a:t>findroot</a:t>
                </a:r>
                <a:r>
                  <a:rPr lang="en-IN" dirty="0"/>
                  <a:t>. It is Newton-Raphson in the background.</a:t>
                </a:r>
              </a:p>
              <a:p>
                <a:pPr/>
                <a14:m>
                  <m:oMathPara xmlns:m="http://schemas.openxmlformats.org/officeDocument/2006/math">
                    <m:oMath>
                      <m:f>
                        <m:fPr>
                          <m:ctrlPr>
                            <a:rPr lang="en-IN" i="1" smtClean="0">
                              <a:highlight>
                                <a:srgbClr val="00FF00"/>
                              </a:highlight>
                              <a:latin typeface="Cambria Math" panose="02040503050406030204" pitchFamily="18" charset="0"/>
                              <a:ea typeface="Cambria Math" panose="02040503050406030204" pitchFamily="18" charset="0"/>
                            </a:rPr>
                          </m:ctrlPr>
                        </m:fPr>
                        <m:num>
                          <m:r>
                            <a:rPr lang="en-IN" i="1" smtClean="0">
                              <a:highlight>
                                <a:srgbClr val="00FF00"/>
                              </a:highlight>
                              <a:latin typeface="Cambria Math" panose="02040503050406030204" pitchFamily="18" charset="0"/>
                              <a:ea typeface="Cambria Math" panose="02040503050406030204" pitchFamily="18" charset="0"/>
                            </a:rPr>
                            <m:t>𝜕</m:t>
                          </m:r>
                          <m:r>
                            <m:rPr>
                              <m:sty m:val="p"/>
                            </m:rPr>
                            <a:rPr lang="en-IN" b="0" i="1" smtClean="0">
                              <a:highlight>
                                <a:srgbClr val="00FF00"/>
                              </a:highlight>
                              <a:latin typeface="Cambria Math" panose="02040503050406030204" pitchFamily="18" charset="0"/>
                              <a:ea typeface="Cambria Math" panose="02040503050406030204" pitchFamily="18" charset="0"/>
                            </a:rPr>
                            <m:t>u</m:t>
                          </m:r>
                        </m:num>
                        <m:den>
                          <m:r>
                            <a:rPr lang="en-IN" i="1" smtClean="0">
                              <a:highlight>
                                <a:srgbClr val="00FF00"/>
                              </a:highlight>
                              <a:latin typeface="Cambria Math" panose="02040503050406030204" pitchFamily="18" charset="0"/>
                              <a:ea typeface="Cambria Math" panose="02040503050406030204" pitchFamily="18" charset="0"/>
                            </a:rPr>
                            <m:t>𝜕</m:t>
                          </m:r>
                          <m:r>
                            <m:rPr>
                              <m:sty m:val="p"/>
                            </m:rPr>
                            <a:rPr lang="en-IN" b="0" i="1" smtClean="0">
                              <a:highlight>
                                <a:srgbClr val="00FF00"/>
                              </a:highlight>
                              <a:latin typeface="Cambria Math" panose="02040503050406030204" pitchFamily="18" charset="0"/>
                              <a:ea typeface="Cambria Math" panose="02040503050406030204" pitchFamily="18" charset="0"/>
                            </a:rPr>
                            <m:t>s</m:t>
                          </m:r>
                        </m:den>
                      </m:f>
                      <m:r>
                        <a:rPr lang="en-IN" b="0" i="1" smtClean="0">
                          <a:highlight>
                            <a:srgbClr val="00FF00"/>
                          </a:highlight>
                          <a:latin typeface="Cambria Math" panose="02040503050406030204" pitchFamily="18" charset="0"/>
                        </a:rPr>
                        <m:t>(</m:t>
                      </m:r>
                      <m:r>
                        <m:rPr>
                          <m:sty m:val="p"/>
                        </m:rPr>
                        <a:rPr lang="en-IN" b="0" i="1" smtClean="0">
                          <a:highlight>
                            <a:srgbClr val="00FF00"/>
                          </a:highlight>
                          <a:latin typeface="Cambria Math" panose="02040503050406030204" pitchFamily="18" charset="0"/>
                        </a:rPr>
                        <m:t>u</m:t>
                      </m:r>
                      <m:r>
                        <a:rPr lang="en-IN" b="0" i="1" smtClean="0">
                          <a:highlight>
                            <a:srgbClr val="00FF00"/>
                          </a:highlight>
                          <a:latin typeface="Cambria Math" panose="02040503050406030204" pitchFamily="18" charset="0"/>
                        </a:rPr>
                        <m:t> − </m:t>
                      </m:r>
                      <m:sSub>
                        <m:sSubPr>
                          <m:ctrlPr>
                            <a:rPr lang="en-IN" b="0" i="1" smtClean="0">
                              <a:highlight>
                                <a:srgbClr val="00FF00"/>
                              </a:highlight>
                              <a:latin typeface="Cambria Math" panose="02040503050406030204" pitchFamily="18" charset="0"/>
                            </a:rPr>
                          </m:ctrlPr>
                        </m:sSubPr>
                        <m:e>
                          <m:r>
                            <m:rPr>
                              <m:sty m:val="p"/>
                            </m:rPr>
                            <a:rPr lang="en-IN" b="0" i="1" smtClean="0">
                              <a:highlight>
                                <a:srgbClr val="00FF00"/>
                              </a:highlight>
                              <a:latin typeface="Cambria Math" panose="02040503050406030204" pitchFamily="18" charset="0"/>
                            </a:rPr>
                            <m:t>u</m:t>
                          </m:r>
                        </m:e>
                        <m:sub>
                          <m:r>
                            <a:rPr lang="en-IN" b="0" i="1" smtClean="0">
                              <a:highlight>
                                <a:srgbClr val="00FF00"/>
                              </a:highlight>
                              <a:latin typeface="Cambria Math" panose="02040503050406030204" pitchFamily="18" charset="0"/>
                            </a:rPr>
                            <m:t>0</m:t>
                          </m:r>
                        </m:sub>
                      </m:sSub>
                      <m:r>
                        <a:rPr lang="en-IN" b="0" i="1" smtClean="0">
                          <a:highlight>
                            <a:srgbClr val="00FF00"/>
                          </a:highlight>
                          <a:latin typeface="Cambria Math" panose="02040503050406030204" pitchFamily="18" charset="0"/>
                        </a:rPr>
                        <m:t>) + </m:t>
                      </m:r>
                      <m:f>
                        <m:fPr>
                          <m:ctrlPr>
                            <a:rPr lang="en-IN" b="0" i="1" smtClean="0">
                              <a:highlight>
                                <a:srgbClr val="00FF00"/>
                              </a:highlight>
                              <a:latin typeface="Cambria Math" panose="02040503050406030204" pitchFamily="18" charset="0"/>
                              <a:ea typeface="Cambria Math" panose="02040503050406030204" pitchFamily="18" charset="0"/>
                            </a:rPr>
                          </m:ctrlPr>
                        </m:fPr>
                        <m:num>
                          <m:r>
                            <a:rPr lang="en-IN" b="0" i="1" smtClean="0">
                              <a:highlight>
                                <a:srgbClr val="00FF00"/>
                              </a:highlight>
                              <a:latin typeface="Cambria Math" panose="02040503050406030204" pitchFamily="18" charset="0"/>
                              <a:ea typeface="Cambria Math" panose="02040503050406030204" pitchFamily="18" charset="0"/>
                            </a:rPr>
                            <m:t>𝜕</m:t>
                          </m:r>
                          <m:r>
                            <m:rPr>
                              <m:sty m:val="p"/>
                            </m:rPr>
                            <a:rPr lang="en-IN" b="0" i="1" smtClean="0">
                              <a:highlight>
                                <a:srgbClr val="00FF00"/>
                              </a:highlight>
                              <a:latin typeface="Cambria Math" panose="02040503050406030204" pitchFamily="18" charset="0"/>
                              <a:ea typeface="Cambria Math" panose="02040503050406030204" pitchFamily="18" charset="0"/>
                            </a:rPr>
                            <m:t>λ</m:t>
                          </m:r>
                        </m:num>
                        <m:den>
                          <m:r>
                            <a:rPr lang="en-IN" b="0" i="1" smtClean="0">
                              <a:highlight>
                                <a:srgbClr val="00FF00"/>
                              </a:highlight>
                              <a:latin typeface="Cambria Math" panose="02040503050406030204" pitchFamily="18" charset="0"/>
                              <a:ea typeface="Cambria Math" panose="02040503050406030204" pitchFamily="18" charset="0"/>
                            </a:rPr>
                            <m:t>𝜕</m:t>
                          </m:r>
                          <m:r>
                            <m:rPr>
                              <m:sty m:val="p"/>
                            </m:rPr>
                            <a:rPr lang="en-IN" b="0" i="1" smtClean="0">
                              <a:highlight>
                                <a:srgbClr val="00FF00"/>
                              </a:highlight>
                              <a:latin typeface="Cambria Math" panose="02040503050406030204" pitchFamily="18" charset="0"/>
                              <a:ea typeface="Cambria Math" panose="02040503050406030204" pitchFamily="18" charset="0"/>
                            </a:rPr>
                            <m:t>s</m:t>
                          </m:r>
                        </m:den>
                      </m:f>
                      <m:r>
                        <a:rPr lang="en-IN" b="0" i="1" smtClean="0">
                          <a:highlight>
                            <a:srgbClr val="00FF00"/>
                          </a:highlight>
                          <a:latin typeface="Cambria Math" panose="02040503050406030204" pitchFamily="18" charset="0"/>
                        </a:rPr>
                        <m:t>(</m:t>
                      </m:r>
                      <m:r>
                        <m:rPr>
                          <m:sty m:val="p"/>
                        </m:rPr>
                        <a:rPr lang="en-IN" b="0" i="1" smtClean="0">
                          <a:highlight>
                            <a:srgbClr val="00FF00"/>
                          </a:highlight>
                          <a:latin typeface="Cambria Math" panose="02040503050406030204" pitchFamily="18" charset="0"/>
                        </a:rPr>
                        <m:t>λ</m:t>
                      </m:r>
                      <m:r>
                        <a:rPr lang="en-IN" b="0" i="1" smtClean="0">
                          <a:highlight>
                            <a:srgbClr val="00FF00"/>
                          </a:highlight>
                          <a:latin typeface="Cambria Math" panose="02040503050406030204" pitchFamily="18" charset="0"/>
                        </a:rPr>
                        <m:t> − </m:t>
                      </m:r>
                      <m:sSub>
                        <m:sSubPr>
                          <m:ctrlPr>
                            <a:rPr lang="en-IN" b="0" i="1" smtClean="0">
                              <a:highlight>
                                <a:srgbClr val="00FF00"/>
                              </a:highlight>
                              <a:latin typeface="Cambria Math" panose="02040503050406030204" pitchFamily="18" charset="0"/>
                            </a:rPr>
                          </m:ctrlPr>
                        </m:sSubPr>
                        <m:e>
                          <m:r>
                            <m:rPr>
                              <m:sty m:val="p"/>
                            </m:rPr>
                            <a:rPr lang="en-IN" b="0" i="1" smtClean="0">
                              <a:highlight>
                                <a:srgbClr val="00FF00"/>
                              </a:highlight>
                              <a:latin typeface="Cambria Math" panose="02040503050406030204" pitchFamily="18" charset="0"/>
                            </a:rPr>
                            <m:t>λ</m:t>
                          </m:r>
                        </m:e>
                        <m:sub>
                          <m:r>
                            <a:rPr lang="en-IN" b="0" i="1" smtClean="0">
                              <a:highlight>
                                <a:srgbClr val="00FF00"/>
                              </a:highlight>
                              <a:latin typeface="Cambria Math" panose="02040503050406030204" pitchFamily="18" charset="0"/>
                            </a:rPr>
                            <m:t>0</m:t>
                          </m:r>
                        </m:sub>
                      </m:sSub>
                      <m:r>
                        <a:rPr lang="en-IN" b="0" i="1" smtClean="0">
                          <a:highlight>
                            <a:srgbClr val="00FF00"/>
                          </a:highlight>
                          <a:latin typeface="Cambria Math" panose="02040503050406030204" pitchFamily="18" charset="0"/>
                        </a:rPr>
                        <m:t>) −</m:t>
                      </m:r>
                      <m:r>
                        <m:rPr>
                          <m:sty m:val="p"/>
                        </m:rPr>
                        <a:rPr lang="en-IN" b="0" i="1" smtClean="0">
                          <a:highlight>
                            <a:srgbClr val="00FF00"/>
                          </a:highlight>
                          <a:latin typeface="Cambria Math" panose="02040503050406030204" pitchFamily="18" charset="0"/>
                        </a:rPr>
                        <m:t>ds</m:t>
                      </m:r>
                      <m:r>
                        <a:rPr lang="en-IN" b="0" i="1" smtClean="0">
                          <a:highlight>
                            <a:srgbClr val="00FF00"/>
                          </a:highlight>
                          <a:latin typeface="Cambria Math" panose="02040503050406030204" pitchFamily="18" charset="0"/>
                        </a:rPr>
                        <m:t> = 0</m:t>
                      </m:r>
                    </m:oMath>
                  </m:oMathPara>
                </a14:m>
                <a:endParaRPr lang="en-IN" dirty="0"/>
              </a:p>
            </p:txBody>
          </p:sp>
        </mc:Choice>
        <mc:Fallback>
          <p:sp>
            <p:nvSpPr>
              <p:cNvPr id="14" name="TextBox 13">
                <a:extLst>
                  <a:ext uri="{FF2B5EF4-FFF2-40B4-BE49-F238E27FC236}">
                    <a16:creationId xmlns:a16="http://schemas.microsoft.com/office/drawing/2014/main" id="{85653C4E-56B2-AA0D-8C1C-82C6772D67A9}"/>
                  </a:ext>
                </a:extLst>
              </p:cNvPr>
              <p:cNvSpPr txBox="1">
                <a:spLocks noRot="1" noChangeAspect="1" noMove="1" noResize="1" noEditPoints="1" noAdjustHandles="1" noChangeArrowheads="1" noChangeShapeType="1" noTextEdit="1"/>
              </p:cNvSpPr>
              <p:nvPr/>
            </p:nvSpPr>
            <p:spPr>
              <a:xfrm>
                <a:off x="6096000" y="4433720"/>
                <a:ext cx="5538216" cy="1450012"/>
              </a:xfrm>
              <a:prstGeom prst="rect">
                <a:avLst/>
              </a:prstGeom>
              <a:blipFill>
                <a:blip r:embed="rId4"/>
                <a:stretch>
                  <a:fillRect l="-880" t="-1681"/>
                </a:stretch>
              </a:blipFill>
            </p:spPr>
            <p:txBody>
              <a:bodyPr/>
              <a:lstStyle/>
              <a:p>
                <a:r>
                  <a:rPr lang="en-IN">
                    <a:noFill/>
                  </a:rPr>
                  <a:t> </a:t>
                </a:r>
              </a:p>
            </p:txBody>
          </p:sp>
        </mc:Fallback>
      </mc:AlternateContent>
      <p:sp>
        <p:nvSpPr>
          <p:cNvPr id="15" name="TextBox 14">
            <a:extLst>
              <a:ext uri="{FF2B5EF4-FFF2-40B4-BE49-F238E27FC236}">
                <a16:creationId xmlns:a16="http://schemas.microsoft.com/office/drawing/2014/main" id="{A8ED4F9B-9336-DD43-37B4-D2B0193971F4}"/>
              </a:ext>
            </a:extLst>
          </p:cNvPr>
          <p:cNvSpPr txBox="1"/>
          <p:nvPr/>
        </p:nvSpPr>
        <p:spPr>
          <a:xfrm>
            <a:off x="6096000" y="5883732"/>
            <a:ext cx="5381244" cy="369332"/>
          </a:xfrm>
          <a:prstGeom prst="rect">
            <a:avLst/>
          </a:prstGeom>
          <a:noFill/>
        </p:spPr>
        <p:txBody>
          <a:bodyPr wrap="square" rtlCol="0">
            <a:spAutoFit/>
          </a:bodyPr>
          <a:lstStyle/>
          <a:p>
            <a:r>
              <a:rPr lang="en-IN" dirty="0"/>
              <a:t>Step 6: Update Values in iteration loop.</a:t>
            </a:r>
          </a:p>
        </p:txBody>
      </p:sp>
      <p:sp>
        <p:nvSpPr>
          <p:cNvPr id="16" name="TextBox 15">
            <a:extLst>
              <a:ext uri="{FF2B5EF4-FFF2-40B4-BE49-F238E27FC236}">
                <a16:creationId xmlns:a16="http://schemas.microsoft.com/office/drawing/2014/main" id="{FEB98000-9E9D-0FBE-7969-D29109860119}"/>
              </a:ext>
            </a:extLst>
          </p:cNvPr>
          <p:cNvSpPr txBox="1"/>
          <p:nvPr/>
        </p:nvSpPr>
        <p:spPr>
          <a:xfrm>
            <a:off x="513588" y="5883732"/>
            <a:ext cx="5381244" cy="369332"/>
          </a:xfrm>
          <a:prstGeom prst="rect">
            <a:avLst/>
          </a:prstGeom>
          <a:noFill/>
        </p:spPr>
        <p:txBody>
          <a:bodyPr wrap="square" rtlCol="0">
            <a:spAutoFit/>
          </a:bodyPr>
          <a:lstStyle/>
          <a:p>
            <a:r>
              <a:rPr lang="en-IN" dirty="0"/>
              <a:t>Step 6: Update Values in iteration loop.</a:t>
            </a:r>
          </a:p>
        </p:txBody>
      </p:sp>
    </p:spTree>
    <p:extLst>
      <p:ext uri="{BB962C8B-B14F-4D97-AF65-F5344CB8AC3E}">
        <p14:creationId xmlns:p14="http://schemas.microsoft.com/office/powerpoint/2010/main" val="3932722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73935D-9818-C163-747E-4FD683A7F077}"/>
              </a:ext>
            </a:extLst>
          </p:cNvPr>
          <p:cNvSpPr txBox="1"/>
          <p:nvPr/>
        </p:nvSpPr>
        <p:spPr>
          <a:xfrm>
            <a:off x="312420" y="502920"/>
            <a:ext cx="11567160" cy="707886"/>
          </a:xfrm>
          <a:prstGeom prst="rect">
            <a:avLst/>
          </a:prstGeom>
          <a:noFill/>
        </p:spPr>
        <p:txBody>
          <a:bodyPr wrap="square" rtlCol="0">
            <a:spAutoFit/>
          </a:bodyPr>
          <a:lstStyle/>
          <a:p>
            <a:r>
              <a:rPr lang="en-IN" sz="4000" dirty="0">
                <a:latin typeface="+mj-lt"/>
              </a:rPr>
              <a:t>Why Pseudo-arc-length-continuation?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F51E883-8127-58C6-33AE-ECA6EAA88EF6}"/>
                  </a:ext>
                </a:extLst>
              </p:cNvPr>
              <p:cNvSpPr txBox="1"/>
              <p:nvPr/>
            </p:nvSpPr>
            <p:spPr>
              <a:xfrm>
                <a:off x="312420" y="1210806"/>
                <a:ext cx="5496505" cy="1754326"/>
              </a:xfrm>
              <a:prstGeom prst="rect">
                <a:avLst/>
              </a:prstGeom>
              <a:noFill/>
            </p:spPr>
            <p:txBody>
              <a:bodyPr wrap="none" rtlCol="0">
                <a:spAutoFit/>
              </a:bodyPr>
              <a:lstStyle/>
              <a:p>
                <a:r>
                  <a:rPr lang="en-IN" dirty="0"/>
                  <a:t>We use the example of modelling the following equation:</a:t>
                </a:r>
              </a:p>
              <a:p>
                <a:endParaRPr lang="en-IN" dirty="0"/>
              </a:p>
              <a:p>
                <a:pPr/>
                <a14:m>
                  <m:oMathPara xmlns:m="http://schemas.openxmlformats.org/officeDocument/2006/math">
                    <m:oMath>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r>
                            <m:rPr>
                              <m:sty m:val="p"/>
                            </m:rPr>
                            <a:rPr lang="en-IN" b="0" i="1" smtClean="0">
                              <a:latin typeface="Cambria Math" panose="02040503050406030204" pitchFamily="18" charset="0"/>
                            </a:rPr>
                            <m:t>u</m:t>
                          </m:r>
                        </m:e>
                        <m:sup>
                          <m:r>
                            <a:rPr lang="en-IN" b="0" i="1" smtClean="0">
                              <a:latin typeface="Cambria Math" panose="02040503050406030204" pitchFamily="18" charset="0"/>
                            </a:rPr>
                            <m:t>2</m:t>
                          </m:r>
                        </m:sup>
                      </m:sSup>
                      <m:r>
                        <a:rPr lang="en-IN" b="0" i="1" smtClean="0">
                          <a:latin typeface="Cambria Math" panose="02040503050406030204" pitchFamily="18" charset="0"/>
                        </a:rPr>
                        <m:t>−1)(</m:t>
                      </m:r>
                      <m:sSup>
                        <m:sSupPr>
                          <m:ctrlPr>
                            <a:rPr lang="en-IN" b="0" i="1" smtClean="0">
                              <a:latin typeface="Cambria Math" panose="02040503050406030204" pitchFamily="18" charset="0"/>
                            </a:rPr>
                          </m:ctrlPr>
                        </m:sSupPr>
                        <m:e>
                          <m:r>
                            <m:rPr>
                              <m:sty m:val="p"/>
                            </m:rPr>
                            <a:rPr lang="en-IN" b="0" i="1" smtClean="0">
                              <a:latin typeface="Cambria Math" panose="02040503050406030204" pitchFamily="18" charset="0"/>
                            </a:rPr>
                            <m:t>u</m:t>
                          </m:r>
                        </m:e>
                        <m:sup>
                          <m:r>
                            <a:rPr lang="en-IN" b="0" i="1" smtClean="0">
                              <a:latin typeface="Cambria Math" panose="02040503050406030204" pitchFamily="18" charset="0"/>
                            </a:rPr>
                            <m:t>2</m:t>
                          </m:r>
                        </m:sup>
                      </m:sSup>
                      <m:r>
                        <a:rPr lang="en-IN" b="0" i="1" smtClean="0">
                          <a:latin typeface="Cambria Math" panose="02040503050406030204" pitchFamily="18" charset="0"/>
                        </a:rPr>
                        <m:t>−4) + </m:t>
                      </m:r>
                      <m:r>
                        <m:rPr>
                          <m:sty m:val="p"/>
                        </m:rPr>
                        <a:rPr lang="en-IN" b="0" i="1" smtClean="0">
                          <a:latin typeface="Cambria Math" panose="02040503050406030204" pitchFamily="18" charset="0"/>
                        </a:rPr>
                        <m:t>λ</m:t>
                      </m:r>
                      <m:sSup>
                        <m:sSupPr>
                          <m:ctrlPr>
                            <a:rPr lang="en-IN" b="0" i="1" smtClean="0">
                              <a:latin typeface="Cambria Math" panose="02040503050406030204" pitchFamily="18" charset="0"/>
                              <a:ea typeface="Cambria Math" panose="02040503050406030204" pitchFamily="18" charset="0"/>
                            </a:rPr>
                          </m:ctrlPr>
                        </m:sSupPr>
                        <m:e>
                          <m:r>
                            <m:rPr>
                              <m:sty m:val="p"/>
                            </m:rPr>
                            <a:rPr lang="en-IN" b="0" i="1" smtClean="0">
                              <a:latin typeface="Cambria Math" panose="02040503050406030204" pitchFamily="18" charset="0"/>
                              <a:ea typeface="Cambria Math" panose="02040503050406030204" pitchFamily="18" charset="0"/>
                            </a:rPr>
                            <m:t>u</m:t>
                          </m:r>
                        </m:e>
                        <m:sup>
                          <m:r>
                            <a:rPr lang="en-IN" b="0" i="1" smtClean="0">
                              <a:latin typeface="Cambria Math" panose="02040503050406030204" pitchFamily="18" charset="0"/>
                              <a:ea typeface="Cambria Math" panose="02040503050406030204" pitchFamily="18" charset="0"/>
                            </a:rPr>
                            <m:t>2</m:t>
                          </m:r>
                        </m:sup>
                      </m:sSup>
                      <m:sSup>
                        <m:sSupPr>
                          <m:ctrlPr>
                            <a:rPr lang="en-IN" b="0" i="1" smtClean="0">
                              <a:latin typeface="Cambria Math" panose="02040503050406030204" pitchFamily="18" charset="0"/>
                              <a:ea typeface="Cambria Math" panose="02040503050406030204" pitchFamily="18" charset="0"/>
                            </a:rPr>
                          </m:ctrlPr>
                        </m:sSupPr>
                        <m:e>
                          <m:r>
                            <m:rPr>
                              <m:sty m:val="p"/>
                            </m:rPr>
                            <a:rPr lang="en-IN" b="0" i="1" smtClean="0">
                              <a:latin typeface="Cambria Math" panose="02040503050406030204" pitchFamily="18" charset="0"/>
                              <a:ea typeface="Cambria Math" panose="02040503050406030204" pitchFamily="18" charset="0"/>
                            </a:rPr>
                            <m:t>e</m:t>
                          </m:r>
                        </m:e>
                        <m:sup>
                          <m:r>
                            <a:rPr lang="en-IN" b="0" i="1" smtClean="0">
                              <a:latin typeface="Cambria Math" panose="02040503050406030204" pitchFamily="18" charset="0"/>
                              <a:ea typeface="Cambria Math" panose="02040503050406030204" pitchFamily="18" charset="0"/>
                            </a:rPr>
                            <m:t>0.1</m:t>
                          </m:r>
                          <m:r>
                            <m:rPr>
                              <m:sty m:val="p"/>
                            </m:rPr>
                            <a:rPr lang="en-IN" b="0" i="1" smtClean="0">
                              <a:latin typeface="Cambria Math" panose="02040503050406030204" pitchFamily="18" charset="0"/>
                              <a:ea typeface="Cambria Math" panose="02040503050406030204" pitchFamily="18" charset="0"/>
                            </a:rPr>
                            <m:t>u</m:t>
                          </m:r>
                        </m:sup>
                      </m:sSup>
                      <m:r>
                        <a:rPr lang="en-IN" b="0" i="0" smtClean="0">
                          <a:latin typeface="Cambria Math" panose="02040503050406030204" pitchFamily="18" charset="0"/>
                          <a:ea typeface="Cambria Math" panose="02040503050406030204" pitchFamily="18" charset="0"/>
                        </a:rPr>
                        <m:t> = 0</m:t>
                      </m:r>
                    </m:oMath>
                  </m:oMathPara>
                </a14:m>
                <a:endParaRPr lang="en-IN" dirty="0"/>
              </a:p>
              <a:p>
                <a:r>
                  <a:rPr lang="en-IN" dirty="0"/>
                  <a:t>With an initial solution of </a:t>
                </a:r>
              </a:p>
              <a:p>
                <a:pPr/>
                <a14:m>
                  <m:oMathPara xmlns:m="http://schemas.openxmlformats.org/officeDocument/2006/math">
                    <m:oMath>
                      <m:r>
                        <a:rPr lang="en-IN" b="0" i="1" smtClean="0">
                          <a:latin typeface="Cambria Math" panose="02040503050406030204" pitchFamily="18" charset="0"/>
                        </a:rPr>
                        <m:t>𝑢</m:t>
                      </m:r>
                      <m:r>
                        <a:rPr lang="en-IN" b="0" i="1" smtClean="0">
                          <a:latin typeface="Cambria Math" panose="02040503050406030204" pitchFamily="18" charset="0"/>
                        </a:rPr>
                        <m:t> = 2 </m:t>
                      </m:r>
                      <m:r>
                        <a:rPr lang="en-IN" b="0" i="1" smtClean="0">
                          <a:latin typeface="Cambria Math" panose="02040503050406030204" pitchFamily="18" charset="0"/>
                        </a:rPr>
                        <m:t>𝑎𝑡</m:t>
                      </m:r>
                      <m:r>
                        <a:rPr lang="en-IN" b="0" i="1" smtClean="0">
                          <a:latin typeface="Cambria Math" panose="02040503050406030204" pitchFamily="18" charset="0"/>
                        </a:rPr>
                        <m:t> </m:t>
                      </m:r>
                      <m:r>
                        <a:rPr lang="en-IN" b="0" i="1" smtClean="0">
                          <a:latin typeface="Cambria Math" panose="02040503050406030204" pitchFamily="18" charset="0"/>
                        </a:rPr>
                        <m:t>𝜆</m:t>
                      </m:r>
                      <m:r>
                        <a:rPr lang="en-IN" b="0" i="1" smtClean="0">
                          <a:latin typeface="Cambria Math" panose="02040503050406030204" pitchFamily="18" charset="0"/>
                        </a:rPr>
                        <m:t>=0</m:t>
                      </m:r>
                    </m:oMath>
                  </m:oMathPara>
                </a14:m>
                <a:endParaRPr lang="en-IN" b="0" dirty="0"/>
              </a:p>
              <a:p>
                <a:endParaRPr lang="en-IN" dirty="0"/>
              </a:p>
            </p:txBody>
          </p:sp>
        </mc:Choice>
        <mc:Fallback xmlns="">
          <p:sp>
            <p:nvSpPr>
              <p:cNvPr id="3" name="TextBox 2">
                <a:extLst>
                  <a:ext uri="{FF2B5EF4-FFF2-40B4-BE49-F238E27FC236}">
                    <a16:creationId xmlns:a16="http://schemas.microsoft.com/office/drawing/2014/main" id="{6F51E883-8127-58C6-33AE-ECA6EAA88EF6}"/>
                  </a:ext>
                </a:extLst>
              </p:cNvPr>
              <p:cNvSpPr txBox="1">
                <a:spLocks noRot="1" noChangeAspect="1" noMove="1" noResize="1" noEditPoints="1" noAdjustHandles="1" noChangeArrowheads="1" noChangeShapeType="1" noTextEdit="1"/>
              </p:cNvSpPr>
              <p:nvPr/>
            </p:nvSpPr>
            <p:spPr>
              <a:xfrm>
                <a:off x="312420" y="1210806"/>
                <a:ext cx="5496505" cy="1754326"/>
              </a:xfrm>
              <a:prstGeom prst="rect">
                <a:avLst/>
              </a:prstGeom>
              <a:blipFill>
                <a:blip r:embed="rId2"/>
                <a:stretch>
                  <a:fillRect l="-887" t="-1742" r="-333"/>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CC61D0B9-63FB-0FC5-EB67-CD361B3CAC9B}"/>
              </a:ext>
            </a:extLst>
          </p:cNvPr>
          <p:cNvPicPr>
            <a:picLocks noChangeAspect="1"/>
          </p:cNvPicPr>
          <p:nvPr/>
        </p:nvPicPr>
        <p:blipFill>
          <a:blip r:embed="rId3"/>
          <a:stretch>
            <a:fillRect/>
          </a:stretch>
        </p:blipFill>
        <p:spPr>
          <a:xfrm>
            <a:off x="6737232" y="1210806"/>
            <a:ext cx="5454768" cy="3415936"/>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0D7FF2-EEBD-4D5D-CC09-0DEF6D5B6F76}"/>
                  </a:ext>
                </a:extLst>
              </p:cNvPr>
              <p:cNvSpPr txBox="1"/>
              <p:nvPr/>
            </p:nvSpPr>
            <p:spPr>
              <a:xfrm>
                <a:off x="312420" y="3243074"/>
                <a:ext cx="6424812" cy="3389005"/>
              </a:xfrm>
              <a:prstGeom prst="rect">
                <a:avLst/>
              </a:prstGeom>
              <a:noFill/>
            </p:spPr>
            <p:txBody>
              <a:bodyPr wrap="square" rtlCol="0">
                <a:spAutoFit/>
              </a:bodyPr>
              <a:lstStyle/>
              <a:p>
                <a:r>
                  <a:rPr lang="en-IN" dirty="0"/>
                  <a:t>At a fold, parameter continuation cannot compute any other guesses as the tangent continues to diverge from the curve because the slope becomes infinite. </a:t>
                </a:r>
              </a:p>
              <a:p>
                <a:r>
                  <a:rPr lang="en-IN" dirty="0"/>
                  <a:t>In parameter continuation, we fix </a:t>
                </a:r>
                <a14:m>
                  <m:oMath xmlns:m="http://schemas.openxmlformats.org/officeDocument/2006/math">
                    <m:r>
                      <m:rPr>
                        <m:sty m:val="p"/>
                      </m:rPr>
                      <a:rPr lang="en-IN" b="0" i="1" smtClean="0">
                        <a:latin typeface="Cambria Math" panose="02040503050406030204" pitchFamily="18" charset="0"/>
                      </a:rPr>
                      <m:t>λ</m:t>
                    </m:r>
                    <m:r>
                      <a:rPr lang="en-IN" b="0" i="1" smtClean="0">
                        <a:latin typeface="Cambria Math" panose="02040503050406030204" pitchFamily="18" charset="0"/>
                      </a:rPr>
                      <m:t> = </m:t>
                    </m:r>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λ</m:t>
                        </m:r>
                      </m:e>
                      <m:sub>
                        <m:r>
                          <a:rPr lang="en-IN" b="0" i="1" smtClean="0">
                            <a:latin typeface="Cambria Math" panose="02040503050406030204" pitchFamily="18" charset="0"/>
                          </a:rPr>
                          <m:t>0</m:t>
                        </m:r>
                      </m:sub>
                    </m:sSub>
                    <m:r>
                      <a:rPr lang="en-IN" b="0" i="1" smtClean="0">
                        <a:latin typeface="Cambria Math" panose="02040503050406030204" pitchFamily="18" charset="0"/>
                      </a:rPr>
                      <m:t>+</m:t>
                    </m:r>
                    <m:r>
                      <m:rPr>
                        <m:sty m:val="p"/>
                      </m:rPr>
                      <a:rPr lang="en-IN" b="0" i="1" smtClean="0">
                        <a:latin typeface="Cambria Math" panose="02040503050406030204" pitchFamily="18" charset="0"/>
                      </a:rPr>
                      <m:t>dλ</m:t>
                    </m:r>
                    <m:r>
                      <a:rPr lang="en-IN" b="0" i="1" smtClean="0">
                        <a:latin typeface="Cambria Math" panose="02040503050406030204" pitchFamily="18" charset="0"/>
                      </a:rPr>
                      <m:t>. </m:t>
                    </m:r>
                  </m:oMath>
                </a14:m>
                <a:r>
                  <a:rPr lang="en-IN" dirty="0"/>
                  <a:t>So our constraint plane remains vertical. This encounters issues at the fold. </a:t>
                </a:r>
              </a:p>
              <a:p>
                <a:r>
                  <a:rPr lang="en-IN" dirty="0"/>
                  <a:t>However, in </a:t>
                </a:r>
                <a:r>
                  <a:rPr lang="en-US" dirty="0"/>
                  <a:t>pseudo-arc-length continuation, the constraint plane is characterized by the tangent, as given by</a:t>
                </a:r>
                <a:r>
                  <a:rPr lang="en-IN" dirty="0"/>
                  <a:t> the equation.</a:t>
                </a:r>
              </a:p>
              <a:p>
                <a:endParaRPr lang="en-IN" dirty="0"/>
              </a:p>
              <a:p>
                <a:pPr/>
                <a14:m>
                  <m:oMathPara xmlns:m="http://schemas.openxmlformats.org/officeDocument/2006/math">
                    <m:oMath>
                      <m:f>
                        <m:fPr>
                          <m:ctrlPr>
                            <a:rPr lang="en-IN" i="1">
                              <a:latin typeface="Cambria Math" panose="02040503050406030204" pitchFamily="18" charset="0"/>
                              <a:ea typeface="Cambria Math" panose="02040503050406030204" pitchFamily="18" charset="0"/>
                            </a:rPr>
                          </m:ctrlPr>
                        </m:fPr>
                        <m:num>
                          <m:r>
                            <a:rPr lang="en-IN" i="1">
                              <a:latin typeface="Cambria Math" panose="02040503050406030204" pitchFamily="18" charset="0"/>
                              <a:ea typeface="Cambria Math" panose="02040503050406030204" pitchFamily="18" charset="0"/>
                            </a:rPr>
                            <m:t>𝜕</m:t>
                          </m:r>
                          <m:r>
                            <m:rPr>
                              <m:sty m:val="p"/>
                            </m:rPr>
                            <a:rPr lang="en-IN" i="1">
                              <a:latin typeface="Cambria Math" panose="02040503050406030204" pitchFamily="18" charset="0"/>
                              <a:ea typeface="Cambria Math" panose="02040503050406030204" pitchFamily="18" charset="0"/>
                            </a:rPr>
                            <m:t>u</m:t>
                          </m:r>
                        </m:num>
                        <m:den>
                          <m:r>
                            <a:rPr lang="en-IN" i="1">
                              <a:latin typeface="Cambria Math" panose="02040503050406030204" pitchFamily="18" charset="0"/>
                              <a:ea typeface="Cambria Math" panose="02040503050406030204" pitchFamily="18" charset="0"/>
                            </a:rPr>
                            <m:t>𝜕</m:t>
                          </m:r>
                          <m:r>
                            <m:rPr>
                              <m:sty m:val="p"/>
                            </m:rPr>
                            <a:rPr lang="en-IN" i="1">
                              <a:latin typeface="Cambria Math" panose="02040503050406030204" pitchFamily="18" charset="0"/>
                              <a:ea typeface="Cambria Math" panose="02040503050406030204" pitchFamily="18" charset="0"/>
                            </a:rPr>
                            <m:t>s</m:t>
                          </m:r>
                        </m:den>
                      </m:f>
                      <m:r>
                        <a:rPr lang="en-IN" i="1">
                          <a:latin typeface="Cambria Math" panose="02040503050406030204" pitchFamily="18" charset="0"/>
                        </a:rPr>
                        <m:t>(</m:t>
                      </m:r>
                      <m:r>
                        <m:rPr>
                          <m:sty m:val="p"/>
                        </m:rPr>
                        <a:rPr lang="en-IN" i="1">
                          <a:latin typeface="Cambria Math" panose="02040503050406030204" pitchFamily="18" charset="0"/>
                        </a:rPr>
                        <m:t>u</m:t>
                      </m:r>
                      <m:r>
                        <a:rPr lang="en-IN" i="1">
                          <a:latin typeface="Cambria Math" panose="02040503050406030204" pitchFamily="18" charset="0"/>
                        </a:rPr>
                        <m:t> − </m:t>
                      </m:r>
                      <m:sSub>
                        <m:sSubPr>
                          <m:ctrlPr>
                            <a:rPr lang="en-IN" i="1">
                              <a:latin typeface="Cambria Math" panose="02040503050406030204" pitchFamily="18" charset="0"/>
                            </a:rPr>
                          </m:ctrlPr>
                        </m:sSubPr>
                        <m:e>
                          <m:r>
                            <m:rPr>
                              <m:sty m:val="p"/>
                            </m:rPr>
                            <a:rPr lang="en-IN" i="1">
                              <a:latin typeface="Cambria Math" panose="02040503050406030204" pitchFamily="18" charset="0"/>
                            </a:rPr>
                            <m:t>u</m:t>
                          </m:r>
                        </m:e>
                        <m:sub>
                          <m:r>
                            <a:rPr lang="en-IN" i="1">
                              <a:latin typeface="Cambria Math" panose="02040503050406030204" pitchFamily="18" charset="0"/>
                            </a:rPr>
                            <m:t>0</m:t>
                          </m:r>
                        </m:sub>
                      </m:sSub>
                      <m:r>
                        <a:rPr lang="en-IN" i="1">
                          <a:latin typeface="Cambria Math" panose="02040503050406030204" pitchFamily="18" charset="0"/>
                        </a:rPr>
                        <m:t>) + </m:t>
                      </m:r>
                      <m:f>
                        <m:fPr>
                          <m:ctrlPr>
                            <a:rPr lang="en-IN" i="1">
                              <a:latin typeface="Cambria Math" panose="02040503050406030204" pitchFamily="18" charset="0"/>
                              <a:ea typeface="Cambria Math" panose="02040503050406030204" pitchFamily="18" charset="0"/>
                            </a:rPr>
                          </m:ctrlPr>
                        </m:fPr>
                        <m:num>
                          <m:r>
                            <a:rPr lang="en-IN" i="1">
                              <a:latin typeface="Cambria Math" panose="02040503050406030204" pitchFamily="18" charset="0"/>
                              <a:ea typeface="Cambria Math" panose="02040503050406030204" pitchFamily="18" charset="0"/>
                            </a:rPr>
                            <m:t>𝜕</m:t>
                          </m:r>
                          <m:r>
                            <m:rPr>
                              <m:sty m:val="p"/>
                            </m:rPr>
                            <a:rPr lang="en-IN" i="1">
                              <a:latin typeface="Cambria Math" panose="02040503050406030204" pitchFamily="18" charset="0"/>
                              <a:ea typeface="Cambria Math" panose="02040503050406030204" pitchFamily="18" charset="0"/>
                            </a:rPr>
                            <m:t>λ</m:t>
                          </m:r>
                        </m:num>
                        <m:den>
                          <m:r>
                            <a:rPr lang="en-IN" i="1">
                              <a:latin typeface="Cambria Math" panose="02040503050406030204" pitchFamily="18" charset="0"/>
                              <a:ea typeface="Cambria Math" panose="02040503050406030204" pitchFamily="18" charset="0"/>
                            </a:rPr>
                            <m:t>𝜕</m:t>
                          </m:r>
                          <m:r>
                            <m:rPr>
                              <m:sty m:val="p"/>
                            </m:rPr>
                            <a:rPr lang="en-IN" i="1">
                              <a:latin typeface="Cambria Math" panose="02040503050406030204" pitchFamily="18" charset="0"/>
                              <a:ea typeface="Cambria Math" panose="02040503050406030204" pitchFamily="18" charset="0"/>
                            </a:rPr>
                            <m:t>s</m:t>
                          </m:r>
                        </m:den>
                      </m:f>
                      <m:r>
                        <a:rPr lang="en-IN" i="1">
                          <a:latin typeface="Cambria Math" panose="02040503050406030204" pitchFamily="18" charset="0"/>
                        </a:rPr>
                        <m:t>(</m:t>
                      </m:r>
                      <m:r>
                        <m:rPr>
                          <m:sty m:val="p"/>
                        </m:rPr>
                        <a:rPr lang="en-IN" i="1">
                          <a:latin typeface="Cambria Math" panose="02040503050406030204" pitchFamily="18" charset="0"/>
                        </a:rPr>
                        <m:t>λ</m:t>
                      </m:r>
                      <m:r>
                        <a:rPr lang="en-IN" i="1">
                          <a:latin typeface="Cambria Math" panose="02040503050406030204" pitchFamily="18" charset="0"/>
                        </a:rPr>
                        <m:t> − </m:t>
                      </m:r>
                      <m:sSub>
                        <m:sSubPr>
                          <m:ctrlPr>
                            <a:rPr lang="en-IN" i="1">
                              <a:latin typeface="Cambria Math" panose="02040503050406030204" pitchFamily="18" charset="0"/>
                            </a:rPr>
                          </m:ctrlPr>
                        </m:sSubPr>
                        <m:e>
                          <m:r>
                            <m:rPr>
                              <m:sty m:val="p"/>
                            </m:rPr>
                            <a:rPr lang="en-IN" i="1">
                              <a:latin typeface="Cambria Math" panose="02040503050406030204" pitchFamily="18" charset="0"/>
                            </a:rPr>
                            <m:t>λ</m:t>
                          </m:r>
                        </m:e>
                        <m:sub>
                          <m:r>
                            <a:rPr lang="en-IN" i="1">
                              <a:latin typeface="Cambria Math" panose="02040503050406030204" pitchFamily="18" charset="0"/>
                            </a:rPr>
                            <m:t>0</m:t>
                          </m:r>
                        </m:sub>
                      </m:sSub>
                      <m:r>
                        <a:rPr lang="en-IN" i="1">
                          <a:latin typeface="Cambria Math" panose="02040503050406030204" pitchFamily="18" charset="0"/>
                        </a:rPr>
                        <m:t>) −</m:t>
                      </m:r>
                      <m:r>
                        <m:rPr>
                          <m:sty m:val="p"/>
                        </m:rPr>
                        <a:rPr lang="en-IN" i="1">
                          <a:latin typeface="Cambria Math" panose="02040503050406030204" pitchFamily="18" charset="0"/>
                        </a:rPr>
                        <m:t>ds</m:t>
                      </m:r>
                      <m:r>
                        <a:rPr lang="en-IN" i="1">
                          <a:latin typeface="Cambria Math" panose="02040503050406030204" pitchFamily="18" charset="0"/>
                        </a:rPr>
                        <m:t> = 0</m:t>
                      </m:r>
                    </m:oMath>
                  </m:oMathPara>
                </a14:m>
                <a:endParaRPr lang="en-IN" dirty="0"/>
              </a:p>
              <a:p>
                <a:endParaRPr lang="en-IN" dirty="0"/>
              </a:p>
              <a:p>
                <a:r>
                  <a:rPr lang="en-IN" dirty="0"/>
                  <a:t> </a:t>
                </a:r>
              </a:p>
            </p:txBody>
          </p:sp>
        </mc:Choice>
        <mc:Fallback xmlns="">
          <p:sp>
            <p:nvSpPr>
              <p:cNvPr id="6" name="TextBox 5">
                <a:extLst>
                  <a:ext uri="{FF2B5EF4-FFF2-40B4-BE49-F238E27FC236}">
                    <a16:creationId xmlns:a16="http://schemas.microsoft.com/office/drawing/2014/main" id="{6B0D7FF2-EEBD-4D5D-CC09-0DEF6D5B6F76}"/>
                  </a:ext>
                </a:extLst>
              </p:cNvPr>
              <p:cNvSpPr txBox="1">
                <a:spLocks noRot="1" noChangeAspect="1" noMove="1" noResize="1" noEditPoints="1" noAdjustHandles="1" noChangeArrowheads="1" noChangeShapeType="1" noTextEdit="1"/>
              </p:cNvSpPr>
              <p:nvPr/>
            </p:nvSpPr>
            <p:spPr>
              <a:xfrm>
                <a:off x="312420" y="3243074"/>
                <a:ext cx="6424812" cy="3389005"/>
              </a:xfrm>
              <a:prstGeom prst="rect">
                <a:avLst/>
              </a:prstGeom>
              <a:blipFill>
                <a:blip r:embed="rId4"/>
                <a:stretch>
                  <a:fillRect l="-759" t="-719"/>
                </a:stretch>
              </a:blipFill>
            </p:spPr>
            <p:txBody>
              <a:bodyPr/>
              <a:lstStyle/>
              <a:p>
                <a:r>
                  <a:rPr lang="en-IN">
                    <a:noFill/>
                  </a:rPr>
                  <a:t> </a:t>
                </a:r>
              </a:p>
            </p:txBody>
          </p:sp>
        </mc:Fallback>
      </mc:AlternateContent>
    </p:spTree>
    <p:extLst>
      <p:ext uri="{BB962C8B-B14F-4D97-AF65-F5344CB8AC3E}">
        <p14:creationId xmlns:p14="http://schemas.microsoft.com/office/powerpoint/2010/main" val="3087461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C3A2E-8A38-33A3-DF6E-699107B9E20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0976C5-9C5F-C828-6EF4-4611D01D8328}"/>
              </a:ext>
            </a:extLst>
          </p:cNvPr>
          <p:cNvSpPr txBox="1"/>
          <p:nvPr/>
        </p:nvSpPr>
        <p:spPr>
          <a:xfrm>
            <a:off x="312420" y="502920"/>
            <a:ext cx="11567160" cy="707886"/>
          </a:xfrm>
          <a:prstGeom prst="rect">
            <a:avLst/>
          </a:prstGeom>
          <a:noFill/>
        </p:spPr>
        <p:txBody>
          <a:bodyPr wrap="square" rtlCol="0">
            <a:spAutoFit/>
          </a:bodyPr>
          <a:lstStyle/>
          <a:p>
            <a:r>
              <a:rPr lang="en-IN" sz="4000" dirty="0">
                <a:latin typeface="+mj-lt"/>
              </a:rPr>
              <a:t>Deformation of Rod</a:t>
            </a:r>
          </a:p>
        </p:txBody>
      </p:sp>
      <p:sp>
        <p:nvSpPr>
          <p:cNvPr id="3" name="TextBox 2">
            <a:extLst>
              <a:ext uri="{FF2B5EF4-FFF2-40B4-BE49-F238E27FC236}">
                <a16:creationId xmlns:a16="http://schemas.microsoft.com/office/drawing/2014/main" id="{1AE2B928-6879-8CD2-875A-2F7070DB07A2}"/>
              </a:ext>
            </a:extLst>
          </p:cNvPr>
          <p:cNvSpPr txBox="1"/>
          <p:nvPr/>
        </p:nvSpPr>
        <p:spPr>
          <a:xfrm>
            <a:off x="312420" y="1293090"/>
            <a:ext cx="11567160" cy="369332"/>
          </a:xfrm>
          <a:prstGeom prst="rect">
            <a:avLst/>
          </a:prstGeom>
          <a:noFill/>
        </p:spPr>
        <p:txBody>
          <a:bodyPr wrap="square" rtlCol="0">
            <a:spAutoFit/>
          </a:bodyPr>
          <a:lstStyle/>
          <a:p>
            <a:r>
              <a:rPr lang="en-IN" dirty="0"/>
              <a:t>Optional: Demonstration of the working of the code: Put n = 10 for quick results</a:t>
            </a:r>
          </a:p>
        </p:txBody>
      </p:sp>
      <p:pic>
        <p:nvPicPr>
          <p:cNvPr id="5" name="Picture 4">
            <a:extLst>
              <a:ext uri="{FF2B5EF4-FFF2-40B4-BE49-F238E27FC236}">
                <a16:creationId xmlns:a16="http://schemas.microsoft.com/office/drawing/2014/main" id="{31DB42B1-6A0F-8C83-4E0A-54A3C2EC4207}"/>
              </a:ext>
            </a:extLst>
          </p:cNvPr>
          <p:cNvPicPr>
            <a:picLocks noChangeAspect="1"/>
          </p:cNvPicPr>
          <p:nvPr/>
        </p:nvPicPr>
        <p:blipFill>
          <a:blip r:embed="rId2"/>
          <a:stretch>
            <a:fillRect/>
          </a:stretch>
        </p:blipFill>
        <p:spPr>
          <a:xfrm>
            <a:off x="374072" y="1744706"/>
            <a:ext cx="11443855" cy="2316190"/>
          </a:xfrm>
          <a:prstGeom prst="rect">
            <a:avLst/>
          </a:prstGeom>
        </p:spPr>
      </p:pic>
      <p:sp>
        <p:nvSpPr>
          <p:cNvPr id="6" name="TextBox 5">
            <a:extLst>
              <a:ext uri="{FF2B5EF4-FFF2-40B4-BE49-F238E27FC236}">
                <a16:creationId xmlns:a16="http://schemas.microsoft.com/office/drawing/2014/main" id="{F12FD1FF-10B7-D8DE-13CA-8606FEB1D626}"/>
              </a:ext>
            </a:extLst>
          </p:cNvPr>
          <p:cNvSpPr txBox="1"/>
          <p:nvPr/>
        </p:nvSpPr>
        <p:spPr>
          <a:xfrm>
            <a:off x="374072" y="4322618"/>
            <a:ext cx="11443855" cy="646331"/>
          </a:xfrm>
          <a:prstGeom prst="rect">
            <a:avLst/>
          </a:prstGeom>
          <a:noFill/>
        </p:spPr>
        <p:txBody>
          <a:bodyPr wrap="square" rtlCol="0">
            <a:spAutoFit/>
          </a:bodyPr>
          <a:lstStyle/>
          <a:p>
            <a:r>
              <a:rPr lang="en-IN" dirty="0"/>
              <a:t>The deformation of the rod is as expected. As the value of the applied Force is increased, the deformation of the rod increases. Our variation parameter here is the force P. </a:t>
            </a:r>
          </a:p>
        </p:txBody>
      </p:sp>
    </p:spTree>
    <p:extLst>
      <p:ext uri="{BB962C8B-B14F-4D97-AF65-F5344CB8AC3E}">
        <p14:creationId xmlns:p14="http://schemas.microsoft.com/office/powerpoint/2010/main" val="2465138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7BF32-3835-0BB7-AFFB-A9159C8B0C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6454FA-AE75-90F6-FA8A-966AFAA34FB9}"/>
              </a:ext>
            </a:extLst>
          </p:cNvPr>
          <p:cNvSpPr txBox="1"/>
          <p:nvPr/>
        </p:nvSpPr>
        <p:spPr>
          <a:xfrm>
            <a:off x="312420" y="502920"/>
            <a:ext cx="11567160" cy="707886"/>
          </a:xfrm>
          <a:prstGeom prst="rect">
            <a:avLst/>
          </a:prstGeom>
          <a:noFill/>
        </p:spPr>
        <p:txBody>
          <a:bodyPr wrap="square" rtlCol="0">
            <a:spAutoFit/>
          </a:bodyPr>
          <a:lstStyle/>
          <a:p>
            <a:r>
              <a:rPr lang="en-IN" sz="4000" dirty="0">
                <a:latin typeface="+mj-lt"/>
              </a:rPr>
              <a:t>Validation(Hamiltonian conservation)</a:t>
            </a:r>
          </a:p>
        </p:txBody>
      </p:sp>
      <p:pic>
        <p:nvPicPr>
          <p:cNvPr id="4" name="Picture 3">
            <a:extLst>
              <a:ext uri="{FF2B5EF4-FFF2-40B4-BE49-F238E27FC236}">
                <a16:creationId xmlns:a16="http://schemas.microsoft.com/office/drawing/2014/main" id="{90138CDA-1AA6-7B71-CA05-258C154775A7}"/>
              </a:ext>
            </a:extLst>
          </p:cNvPr>
          <p:cNvPicPr>
            <a:picLocks noChangeAspect="1"/>
          </p:cNvPicPr>
          <p:nvPr/>
        </p:nvPicPr>
        <p:blipFill>
          <a:blip r:embed="rId2"/>
          <a:stretch>
            <a:fillRect/>
          </a:stretch>
        </p:blipFill>
        <p:spPr>
          <a:xfrm>
            <a:off x="1432857" y="1210806"/>
            <a:ext cx="9466052" cy="5150414"/>
          </a:xfrm>
          <a:prstGeom prst="rect">
            <a:avLst/>
          </a:prstGeom>
        </p:spPr>
      </p:pic>
    </p:spTree>
    <p:extLst>
      <p:ext uri="{BB962C8B-B14F-4D97-AF65-F5344CB8AC3E}">
        <p14:creationId xmlns:p14="http://schemas.microsoft.com/office/powerpoint/2010/main" val="3911832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1CA299-343F-6872-C608-77E693727A9C}"/>
              </a:ext>
            </a:extLst>
          </p:cNvPr>
          <p:cNvSpPr txBox="1"/>
          <p:nvPr/>
        </p:nvSpPr>
        <p:spPr>
          <a:xfrm>
            <a:off x="2952350" y="2225963"/>
            <a:ext cx="6287299" cy="1446550"/>
          </a:xfrm>
          <a:prstGeom prst="rect">
            <a:avLst/>
          </a:prstGeom>
          <a:noFill/>
        </p:spPr>
        <p:txBody>
          <a:bodyPr wrap="none" rtlCol="0">
            <a:spAutoFit/>
          </a:bodyPr>
          <a:lstStyle/>
          <a:p>
            <a:r>
              <a:rPr lang="en-IN" sz="8800" dirty="0">
                <a:latin typeface="+mj-lt"/>
              </a:rPr>
              <a:t>THANK YOU</a:t>
            </a:r>
          </a:p>
        </p:txBody>
      </p:sp>
    </p:spTree>
    <p:extLst>
      <p:ext uri="{BB962C8B-B14F-4D97-AF65-F5344CB8AC3E}">
        <p14:creationId xmlns:p14="http://schemas.microsoft.com/office/powerpoint/2010/main" val="1073985409"/>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2.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2.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{981F7C4D-7403-4205-B6BE-C8FDD5A176E0}TF235124e3-e6db-4c6d-93c8-733f2fadbc609fb6f57c_win32-b1e91d96f19e</Template>
  <TotalTime>3198</TotalTime>
  <Words>941</Words>
  <Application>Microsoft Office PowerPoint</Application>
  <PresentationFormat>Widescreen</PresentationFormat>
  <Paragraphs>91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Cambria Math</vt:lpstr>
      <vt:lpstr>Georgia Pro Cond Light</vt:lpstr>
      <vt:lpstr>Speak Pro</vt:lpstr>
      <vt:lpstr>RetrospectVTI</vt:lpstr>
      <vt:lpstr>Pseudo-Arc Length Continuation</vt:lpstr>
      <vt:lpstr>Problem Statement: Solving Kirchhoff Rod Theory Problems using Keller’s pseudo arc-length continuation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Arnav Amol Gogate</dc:creator>
  <cp:lastModifiedBy>Arnav Amol Gogate</cp:lastModifiedBy>
  <cp:revision>16</cp:revision>
  <dcterms:created xsi:type="dcterms:W3CDTF">2026-04-20T16:42:42Z</dcterms:created>
  <dcterms:modified xsi:type="dcterms:W3CDTF">2026-09-09T06:07:36Z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